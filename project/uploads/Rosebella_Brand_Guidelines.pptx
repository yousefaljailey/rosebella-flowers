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0C2"/>
    <a:srgbClr val="C6922A"/>
    <a:srgbClr val="E3DEB5"/>
    <a:srgbClr val="FAF8F0"/>
    <a:srgbClr val="F7EFE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6" d="100"/>
          <a:sy n="66" d="100"/>
        </p:scale>
        <p:origin x="648" y="-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0"/>
            <a:ext cx="10972800" cy="914400"/>
          </a:xfrm>
          <a:prstGeom prst="rect">
            <a:avLst/>
          </a:prstGeom>
          <a:noFill/>
        </p:spPr>
        <p:txBody>
          <a:bodyPr wrap="square"/>
          <a:lstStyle/>
          <a:p>
            <a:pPr algn="ctr">
              <a:spcBef>
                <a:spcPts val="0"/>
              </a:spcBef>
              <a:spcAft>
                <a:spcPts val="0"/>
              </a:spcAft>
              <a:defRPr sz="7200" b="0" i="0">
                <a:solidFill>
                  <a:srgbClr val="C6922A"/>
                </a:solidFill>
                <a:latin typeface="Didot"/>
              </a:defRPr>
            </a:pPr>
            <a:r>
              <a:rPr dirty="0"/>
              <a:t>ROSEBELLA</a:t>
            </a:r>
          </a:p>
        </p:txBody>
      </p:sp>
      <p:sp>
        <p:nvSpPr>
          <p:cNvPr id="5" name="TextBox 4"/>
          <p:cNvSpPr txBox="1"/>
          <p:nvPr/>
        </p:nvSpPr>
        <p:spPr>
          <a:xfrm>
            <a:off x="457200" y="3274060"/>
            <a:ext cx="10972800" cy="457200"/>
          </a:xfrm>
          <a:prstGeom prst="rect">
            <a:avLst/>
          </a:prstGeom>
          <a:noFill/>
        </p:spPr>
        <p:txBody>
          <a:bodyPr wrap="square"/>
          <a:lstStyle/>
          <a:p>
            <a:pPr algn="ctr">
              <a:spcBef>
                <a:spcPts val="0"/>
              </a:spcBef>
              <a:spcAft>
                <a:spcPts val="0"/>
              </a:spcAft>
              <a:defRPr sz="1800" b="0" i="0">
                <a:solidFill>
                  <a:srgbClr val="F5F0C2"/>
                </a:solidFill>
                <a:latin typeface="Montserrat"/>
              </a:defRPr>
            </a:pPr>
            <a:r>
              <a:rPr dirty="0"/>
              <a:t>FLOWERS &amp; CHOCOLATES</a:t>
            </a:r>
          </a:p>
        </p:txBody>
      </p:sp>
      <p:sp>
        <p:nvSpPr>
          <p:cNvPr id="6" name="TextBox 5"/>
          <p:cNvSpPr txBox="1"/>
          <p:nvPr/>
        </p:nvSpPr>
        <p:spPr>
          <a:xfrm>
            <a:off x="457200" y="4572000"/>
            <a:ext cx="10972800" cy="731520"/>
          </a:xfrm>
          <a:prstGeom prst="rect">
            <a:avLst/>
          </a:prstGeom>
          <a:noFill/>
        </p:spPr>
        <p:txBody>
          <a:bodyPr wrap="square"/>
          <a:lstStyle/>
          <a:p>
            <a:pPr algn="ctr">
              <a:spcBef>
                <a:spcPts val="0"/>
              </a:spcBef>
              <a:spcAft>
                <a:spcPts val="0"/>
              </a:spcAft>
              <a:defRPr sz="2800" b="0" i="1">
                <a:solidFill>
                  <a:srgbClr val="FFFFFF"/>
                </a:solidFill>
                <a:latin typeface="Garamond"/>
              </a:defRPr>
            </a:pPr>
            <a:r>
              <a:rPr dirty="0"/>
              <a:t>Brand Guidelines</a:t>
            </a:r>
          </a:p>
        </p:txBody>
      </p:sp>
      <p:sp>
        <p:nvSpPr>
          <p:cNvPr id="7" name="TextBox 6"/>
          <p:cNvSpPr txBox="1"/>
          <p:nvPr/>
        </p:nvSpPr>
        <p:spPr>
          <a:xfrm>
            <a:off x="457200" y="5943600"/>
            <a:ext cx="10972800" cy="365760"/>
          </a:xfrm>
          <a:prstGeom prst="rect">
            <a:avLst/>
          </a:prstGeom>
          <a:noFill/>
        </p:spPr>
        <p:txBody>
          <a:bodyPr wrap="square"/>
          <a:lstStyle/>
          <a:p>
            <a:pPr algn="ctr">
              <a:spcBef>
                <a:spcPts val="0"/>
              </a:spcBef>
              <a:spcAft>
                <a:spcPts val="0"/>
              </a:spcAft>
              <a:defRPr sz="1400" b="0" i="0">
                <a:solidFill>
                  <a:srgbClr val="6B635B"/>
                </a:solidFill>
                <a:latin typeface="Montserrat"/>
              </a:defRPr>
            </a:pPr>
            <a:r>
              <a:rPr dirty="0"/>
              <a:t>202</a:t>
            </a:r>
            <a:r>
              <a:rPr lang="en-US" dirty="0"/>
              <a:t>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4572000" cy="731520"/>
          </a:xfrm>
          <a:prstGeom prst="rect">
            <a:avLst/>
          </a:prstGeom>
          <a:noFill/>
        </p:spPr>
        <p:txBody>
          <a:bodyPr wrap="square"/>
          <a:lstStyle/>
          <a:p>
            <a:pPr algn="l">
              <a:spcBef>
                <a:spcPts val="0"/>
              </a:spcBef>
              <a:spcAft>
                <a:spcPts val="0"/>
              </a:spcAft>
              <a:defRPr sz="4200" b="0" i="0">
                <a:solidFill>
                  <a:srgbClr val="2D2D2D"/>
                </a:solidFill>
                <a:latin typeface="Didot"/>
              </a:defRPr>
            </a:pPr>
            <a:r>
              <a:t>Contents</a:t>
            </a:r>
          </a:p>
        </p:txBody>
      </p:sp>
      <p:sp>
        <p:nvSpPr>
          <p:cNvPr id="5" name="Rectangle 4"/>
          <p:cNvSpPr/>
          <p:nvPr/>
        </p:nvSpPr>
        <p:spPr>
          <a:xfrm>
            <a:off x="731520" y="1188720"/>
            <a:ext cx="18288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548640" cy="365760"/>
          </a:xfrm>
          <a:prstGeom prst="rect">
            <a:avLst/>
          </a:prstGeom>
          <a:noFill/>
        </p:spPr>
        <p:txBody>
          <a:bodyPr wrap="square"/>
          <a:lstStyle/>
          <a:p>
            <a:pPr algn="l">
              <a:spcBef>
                <a:spcPts val="0"/>
              </a:spcBef>
              <a:spcAft>
                <a:spcPts val="0"/>
              </a:spcAft>
              <a:defRPr sz="1400" b="1" i="0">
                <a:solidFill>
                  <a:srgbClr val="C6922A"/>
                </a:solidFill>
                <a:latin typeface="Montserrat"/>
              </a:defRPr>
            </a:pPr>
            <a:r>
              <a:t>01</a:t>
            </a:r>
          </a:p>
        </p:txBody>
      </p:sp>
      <p:sp>
        <p:nvSpPr>
          <p:cNvPr id="7" name="TextBox 6"/>
          <p:cNvSpPr txBox="1"/>
          <p:nvPr/>
        </p:nvSpPr>
        <p:spPr>
          <a:xfrm>
            <a:off x="1371600" y="1645920"/>
            <a:ext cx="3657600" cy="365760"/>
          </a:xfrm>
          <a:prstGeom prst="rect">
            <a:avLst/>
          </a:prstGeom>
          <a:noFill/>
        </p:spPr>
        <p:txBody>
          <a:bodyPr wrap="square"/>
          <a:lstStyle/>
          <a:p>
            <a:pPr algn="l">
              <a:spcBef>
                <a:spcPts val="0"/>
              </a:spcBef>
              <a:spcAft>
                <a:spcPts val="0"/>
              </a:spcAft>
              <a:defRPr sz="1600" b="0" i="0">
                <a:solidFill>
                  <a:srgbClr val="2D2D2D"/>
                </a:solidFill>
                <a:latin typeface="Garamond"/>
              </a:defRPr>
            </a:pPr>
            <a:r>
              <a:t>Brand Story</a:t>
            </a:r>
          </a:p>
        </p:txBody>
      </p:sp>
      <p:sp>
        <p:nvSpPr>
          <p:cNvPr id="8" name="TextBox 7"/>
          <p:cNvSpPr txBox="1"/>
          <p:nvPr/>
        </p:nvSpPr>
        <p:spPr>
          <a:xfrm>
            <a:off x="731520" y="2148840"/>
            <a:ext cx="548640" cy="365760"/>
          </a:xfrm>
          <a:prstGeom prst="rect">
            <a:avLst/>
          </a:prstGeom>
          <a:noFill/>
        </p:spPr>
        <p:txBody>
          <a:bodyPr wrap="square"/>
          <a:lstStyle/>
          <a:p>
            <a:pPr algn="l">
              <a:spcBef>
                <a:spcPts val="0"/>
              </a:spcBef>
              <a:spcAft>
                <a:spcPts val="0"/>
              </a:spcAft>
              <a:defRPr sz="1400" b="1" i="0">
                <a:solidFill>
                  <a:srgbClr val="C6922A"/>
                </a:solidFill>
                <a:latin typeface="Montserrat"/>
              </a:defRPr>
            </a:pPr>
            <a:r>
              <a:t>02</a:t>
            </a:r>
          </a:p>
        </p:txBody>
      </p:sp>
      <p:sp>
        <p:nvSpPr>
          <p:cNvPr id="9" name="TextBox 8"/>
          <p:cNvSpPr txBox="1"/>
          <p:nvPr/>
        </p:nvSpPr>
        <p:spPr>
          <a:xfrm>
            <a:off x="1371600" y="2148840"/>
            <a:ext cx="3657600" cy="365760"/>
          </a:xfrm>
          <a:prstGeom prst="rect">
            <a:avLst/>
          </a:prstGeom>
          <a:noFill/>
        </p:spPr>
        <p:txBody>
          <a:bodyPr wrap="square"/>
          <a:lstStyle/>
          <a:p>
            <a:pPr algn="l">
              <a:spcBef>
                <a:spcPts val="0"/>
              </a:spcBef>
              <a:spcAft>
                <a:spcPts val="0"/>
              </a:spcAft>
              <a:defRPr sz="1600" b="0" i="0">
                <a:solidFill>
                  <a:srgbClr val="2D2D2D"/>
                </a:solidFill>
                <a:latin typeface="Garamond"/>
              </a:defRPr>
            </a:pPr>
            <a:r>
              <a:t>Logo Guidelines</a:t>
            </a:r>
          </a:p>
        </p:txBody>
      </p:sp>
      <p:sp>
        <p:nvSpPr>
          <p:cNvPr id="10" name="TextBox 9"/>
          <p:cNvSpPr txBox="1"/>
          <p:nvPr/>
        </p:nvSpPr>
        <p:spPr>
          <a:xfrm>
            <a:off x="731520" y="2651760"/>
            <a:ext cx="548640" cy="365760"/>
          </a:xfrm>
          <a:prstGeom prst="rect">
            <a:avLst/>
          </a:prstGeom>
          <a:noFill/>
        </p:spPr>
        <p:txBody>
          <a:bodyPr wrap="square"/>
          <a:lstStyle/>
          <a:p>
            <a:pPr algn="l">
              <a:spcBef>
                <a:spcPts val="0"/>
              </a:spcBef>
              <a:spcAft>
                <a:spcPts val="0"/>
              </a:spcAft>
              <a:defRPr sz="1400" b="1" i="0">
                <a:solidFill>
                  <a:srgbClr val="C6922A"/>
                </a:solidFill>
                <a:latin typeface="Montserrat"/>
              </a:defRPr>
            </a:pPr>
            <a:r>
              <a:t>03</a:t>
            </a:r>
          </a:p>
        </p:txBody>
      </p:sp>
      <p:sp>
        <p:nvSpPr>
          <p:cNvPr id="11" name="TextBox 10"/>
          <p:cNvSpPr txBox="1"/>
          <p:nvPr/>
        </p:nvSpPr>
        <p:spPr>
          <a:xfrm>
            <a:off x="1371600" y="2651760"/>
            <a:ext cx="3657600" cy="365760"/>
          </a:xfrm>
          <a:prstGeom prst="rect">
            <a:avLst/>
          </a:prstGeom>
          <a:noFill/>
        </p:spPr>
        <p:txBody>
          <a:bodyPr wrap="square"/>
          <a:lstStyle/>
          <a:p>
            <a:pPr algn="l">
              <a:spcBef>
                <a:spcPts val="0"/>
              </a:spcBef>
              <a:spcAft>
                <a:spcPts val="0"/>
              </a:spcAft>
              <a:defRPr sz="1600" b="0" i="0">
                <a:solidFill>
                  <a:srgbClr val="2D2D2D"/>
                </a:solidFill>
                <a:latin typeface="Garamond"/>
              </a:defRPr>
            </a:pPr>
            <a:r>
              <a:t>Color Palette</a:t>
            </a:r>
          </a:p>
        </p:txBody>
      </p:sp>
      <p:sp>
        <p:nvSpPr>
          <p:cNvPr id="12" name="TextBox 11"/>
          <p:cNvSpPr txBox="1"/>
          <p:nvPr/>
        </p:nvSpPr>
        <p:spPr>
          <a:xfrm>
            <a:off x="731520" y="3154680"/>
            <a:ext cx="548640" cy="365760"/>
          </a:xfrm>
          <a:prstGeom prst="rect">
            <a:avLst/>
          </a:prstGeom>
          <a:noFill/>
        </p:spPr>
        <p:txBody>
          <a:bodyPr wrap="square"/>
          <a:lstStyle/>
          <a:p>
            <a:pPr algn="l">
              <a:spcBef>
                <a:spcPts val="0"/>
              </a:spcBef>
              <a:spcAft>
                <a:spcPts val="0"/>
              </a:spcAft>
              <a:defRPr sz="1400" b="1" i="0">
                <a:solidFill>
                  <a:srgbClr val="C6922A"/>
                </a:solidFill>
                <a:latin typeface="Montserrat"/>
              </a:defRPr>
            </a:pPr>
            <a:r>
              <a:t>04</a:t>
            </a:r>
          </a:p>
        </p:txBody>
      </p:sp>
      <p:sp>
        <p:nvSpPr>
          <p:cNvPr id="13" name="TextBox 12"/>
          <p:cNvSpPr txBox="1"/>
          <p:nvPr/>
        </p:nvSpPr>
        <p:spPr>
          <a:xfrm>
            <a:off x="1371600" y="3154680"/>
            <a:ext cx="3657600" cy="365760"/>
          </a:xfrm>
          <a:prstGeom prst="rect">
            <a:avLst/>
          </a:prstGeom>
          <a:noFill/>
        </p:spPr>
        <p:txBody>
          <a:bodyPr wrap="square"/>
          <a:lstStyle/>
          <a:p>
            <a:pPr algn="l">
              <a:spcBef>
                <a:spcPts val="0"/>
              </a:spcBef>
              <a:spcAft>
                <a:spcPts val="0"/>
              </a:spcAft>
              <a:defRPr sz="1600" b="0" i="0">
                <a:solidFill>
                  <a:srgbClr val="2D2D2D"/>
                </a:solidFill>
                <a:latin typeface="Garamond"/>
              </a:defRPr>
            </a:pPr>
            <a:r>
              <a:t>Typography</a:t>
            </a:r>
          </a:p>
        </p:txBody>
      </p:sp>
      <p:sp>
        <p:nvSpPr>
          <p:cNvPr id="14" name="TextBox 13"/>
          <p:cNvSpPr txBox="1"/>
          <p:nvPr/>
        </p:nvSpPr>
        <p:spPr>
          <a:xfrm>
            <a:off x="731520" y="3657600"/>
            <a:ext cx="548640" cy="365760"/>
          </a:xfrm>
          <a:prstGeom prst="rect">
            <a:avLst/>
          </a:prstGeom>
          <a:noFill/>
        </p:spPr>
        <p:txBody>
          <a:bodyPr wrap="square"/>
          <a:lstStyle/>
          <a:p>
            <a:pPr algn="l">
              <a:spcBef>
                <a:spcPts val="0"/>
              </a:spcBef>
              <a:spcAft>
                <a:spcPts val="0"/>
              </a:spcAft>
              <a:defRPr sz="1400" b="1" i="0">
                <a:solidFill>
                  <a:srgbClr val="C6922A"/>
                </a:solidFill>
                <a:latin typeface="Montserrat"/>
              </a:defRPr>
            </a:pPr>
            <a:r>
              <a:t>05</a:t>
            </a:r>
          </a:p>
        </p:txBody>
      </p:sp>
      <p:sp>
        <p:nvSpPr>
          <p:cNvPr id="15" name="TextBox 14"/>
          <p:cNvSpPr txBox="1"/>
          <p:nvPr/>
        </p:nvSpPr>
        <p:spPr>
          <a:xfrm>
            <a:off x="1371600" y="3657600"/>
            <a:ext cx="3657600" cy="365760"/>
          </a:xfrm>
          <a:prstGeom prst="rect">
            <a:avLst/>
          </a:prstGeom>
          <a:noFill/>
        </p:spPr>
        <p:txBody>
          <a:bodyPr wrap="square"/>
          <a:lstStyle/>
          <a:p>
            <a:pPr algn="l">
              <a:spcBef>
                <a:spcPts val="0"/>
              </a:spcBef>
              <a:spcAft>
                <a:spcPts val="0"/>
              </a:spcAft>
              <a:defRPr sz="1600" b="0" i="0">
                <a:solidFill>
                  <a:srgbClr val="2D2D2D"/>
                </a:solidFill>
                <a:latin typeface="Garamond"/>
              </a:defRPr>
            </a:pPr>
            <a:r>
              <a:t>Photography Style</a:t>
            </a:r>
          </a:p>
        </p:txBody>
      </p:sp>
      <p:sp>
        <p:nvSpPr>
          <p:cNvPr id="16" name="TextBox 15"/>
          <p:cNvSpPr txBox="1"/>
          <p:nvPr/>
        </p:nvSpPr>
        <p:spPr>
          <a:xfrm>
            <a:off x="731520" y="4160520"/>
            <a:ext cx="548640" cy="365760"/>
          </a:xfrm>
          <a:prstGeom prst="rect">
            <a:avLst/>
          </a:prstGeom>
          <a:noFill/>
        </p:spPr>
        <p:txBody>
          <a:bodyPr wrap="square"/>
          <a:lstStyle/>
          <a:p>
            <a:pPr algn="l">
              <a:spcBef>
                <a:spcPts val="0"/>
              </a:spcBef>
              <a:spcAft>
                <a:spcPts val="0"/>
              </a:spcAft>
              <a:defRPr sz="1400" b="1" i="0">
                <a:solidFill>
                  <a:srgbClr val="C6922A"/>
                </a:solidFill>
                <a:latin typeface="Montserrat"/>
              </a:defRPr>
            </a:pPr>
            <a:r>
              <a:t>06</a:t>
            </a:r>
          </a:p>
        </p:txBody>
      </p:sp>
      <p:sp>
        <p:nvSpPr>
          <p:cNvPr id="17" name="TextBox 16"/>
          <p:cNvSpPr txBox="1"/>
          <p:nvPr/>
        </p:nvSpPr>
        <p:spPr>
          <a:xfrm>
            <a:off x="1371600" y="4160520"/>
            <a:ext cx="3657600" cy="365760"/>
          </a:xfrm>
          <a:prstGeom prst="rect">
            <a:avLst/>
          </a:prstGeom>
          <a:noFill/>
        </p:spPr>
        <p:txBody>
          <a:bodyPr wrap="square"/>
          <a:lstStyle/>
          <a:p>
            <a:pPr algn="l">
              <a:spcBef>
                <a:spcPts val="0"/>
              </a:spcBef>
              <a:spcAft>
                <a:spcPts val="0"/>
              </a:spcAft>
              <a:defRPr sz="1600" b="0" i="0">
                <a:solidFill>
                  <a:srgbClr val="2D2D2D"/>
                </a:solidFill>
                <a:latin typeface="Garamond"/>
              </a:defRPr>
            </a:pPr>
            <a:r>
              <a:t>Brand Voice &amp; Tone</a:t>
            </a:r>
          </a:p>
        </p:txBody>
      </p:sp>
      <p:sp>
        <p:nvSpPr>
          <p:cNvPr id="18" name="TextBox 17"/>
          <p:cNvSpPr txBox="1"/>
          <p:nvPr/>
        </p:nvSpPr>
        <p:spPr>
          <a:xfrm>
            <a:off x="731520" y="4663440"/>
            <a:ext cx="548640" cy="365760"/>
          </a:xfrm>
          <a:prstGeom prst="rect">
            <a:avLst/>
          </a:prstGeom>
          <a:noFill/>
        </p:spPr>
        <p:txBody>
          <a:bodyPr wrap="square"/>
          <a:lstStyle/>
          <a:p>
            <a:pPr algn="l">
              <a:spcBef>
                <a:spcPts val="0"/>
              </a:spcBef>
              <a:spcAft>
                <a:spcPts val="0"/>
              </a:spcAft>
              <a:defRPr sz="1400" b="1" i="0">
                <a:solidFill>
                  <a:srgbClr val="C6922A"/>
                </a:solidFill>
                <a:latin typeface="Montserrat"/>
              </a:defRPr>
            </a:pPr>
            <a:r>
              <a:t>07</a:t>
            </a:r>
          </a:p>
        </p:txBody>
      </p:sp>
      <p:sp>
        <p:nvSpPr>
          <p:cNvPr id="19" name="TextBox 18"/>
          <p:cNvSpPr txBox="1"/>
          <p:nvPr/>
        </p:nvSpPr>
        <p:spPr>
          <a:xfrm>
            <a:off x="1371600" y="4663440"/>
            <a:ext cx="3657600" cy="365760"/>
          </a:xfrm>
          <a:prstGeom prst="rect">
            <a:avLst/>
          </a:prstGeom>
          <a:noFill/>
        </p:spPr>
        <p:txBody>
          <a:bodyPr wrap="square"/>
          <a:lstStyle/>
          <a:p>
            <a:pPr algn="l">
              <a:spcBef>
                <a:spcPts val="0"/>
              </a:spcBef>
              <a:spcAft>
                <a:spcPts val="0"/>
              </a:spcAft>
              <a:defRPr sz="1600" b="0" i="0">
                <a:solidFill>
                  <a:srgbClr val="2D2D2D"/>
                </a:solidFill>
                <a:latin typeface="Garamond"/>
              </a:defRPr>
            </a:pPr>
            <a:r>
              <a:t>Social Media Templates</a:t>
            </a:r>
          </a:p>
        </p:txBody>
      </p:sp>
      <p:sp>
        <p:nvSpPr>
          <p:cNvPr id="20" name="TextBox 19"/>
          <p:cNvSpPr txBox="1"/>
          <p:nvPr/>
        </p:nvSpPr>
        <p:spPr>
          <a:xfrm>
            <a:off x="731520" y="5166359"/>
            <a:ext cx="548640" cy="365760"/>
          </a:xfrm>
          <a:prstGeom prst="rect">
            <a:avLst/>
          </a:prstGeom>
          <a:noFill/>
        </p:spPr>
        <p:txBody>
          <a:bodyPr wrap="square"/>
          <a:lstStyle/>
          <a:p>
            <a:pPr algn="l">
              <a:spcBef>
                <a:spcPts val="0"/>
              </a:spcBef>
              <a:spcAft>
                <a:spcPts val="0"/>
              </a:spcAft>
              <a:defRPr sz="1400" b="1" i="0">
                <a:solidFill>
                  <a:srgbClr val="C6922A"/>
                </a:solidFill>
                <a:latin typeface="Montserrat"/>
              </a:defRPr>
            </a:pPr>
            <a:r>
              <a:t>08</a:t>
            </a:r>
          </a:p>
        </p:txBody>
      </p:sp>
      <p:sp>
        <p:nvSpPr>
          <p:cNvPr id="21" name="TextBox 20"/>
          <p:cNvSpPr txBox="1"/>
          <p:nvPr/>
        </p:nvSpPr>
        <p:spPr>
          <a:xfrm>
            <a:off x="1371600" y="5166359"/>
            <a:ext cx="3657600" cy="365760"/>
          </a:xfrm>
          <a:prstGeom prst="rect">
            <a:avLst/>
          </a:prstGeom>
          <a:noFill/>
        </p:spPr>
        <p:txBody>
          <a:bodyPr wrap="square"/>
          <a:lstStyle/>
          <a:p>
            <a:pPr algn="l">
              <a:spcBef>
                <a:spcPts val="0"/>
              </a:spcBef>
              <a:spcAft>
                <a:spcPts val="0"/>
              </a:spcAft>
              <a:defRPr sz="1600" b="0" i="0">
                <a:solidFill>
                  <a:srgbClr val="2D2D2D"/>
                </a:solidFill>
                <a:latin typeface="Garamond"/>
              </a:defRPr>
            </a:pPr>
            <a:r>
              <a:t>Brand Applications</a:t>
            </a:r>
          </a:p>
        </p:txBody>
      </p:sp>
      <p:sp>
        <p:nvSpPr>
          <p:cNvPr id="22" name="TextBox 21"/>
          <p:cNvSpPr txBox="1"/>
          <p:nvPr/>
        </p:nvSpPr>
        <p:spPr>
          <a:xfrm>
            <a:off x="731520" y="5669279"/>
            <a:ext cx="548640" cy="365760"/>
          </a:xfrm>
          <a:prstGeom prst="rect">
            <a:avLst/>
          </a:prstGeom>
          <a:noFill/>
        </p:spPr>
        <p:txBody>
          <a:bodyPr wrap="square"/>
          <a:lstStyle/>
          <a:p>
            <a:pPr algn="l">
              <a:spcBef>
                <a:spcPts val="0"/>
              </a:spcBef>
              <a:spcAft>
                <a:spcPts val="0"/>
              </a:spcAft>
              <a:defRPr sz="1400" b="1" i="0">
                <a:solidFill>
                  <a:srgbClr val="C6922A"/>
                </a:solidFill>
                <a:latin typeface="Montserrat"/>
              </a:defRPr>
            </a:pPr>
            <a:r>
              <a:t>09</a:t>
            </a:r>
          </a:p>
        </p:txBody>
      </p:sp>
      <p:sp>
        <p:nvSpPr>
          <p:cNvPr id="23" name="TextBox 22"/>
          <p:cNvSpPr txBox="1"/>
          <p:nvPr/>
        </p:nvSpPr>
        <p:spPr>
          <a:xfrm>
            <a:off x="1371600" y="5669279"/>
            <a:ext cx="3657600" cy="365760"/>
          </a:xfrm>
          <a:prstGeom prst="rect">
            <a:avLst/>
          </a:prstGeom>
          <a:noFill/>
        </p:spPr>
        <p:txBody>
          <a:bodyPr wrap="square"/>
          <a:lstStyle/>
          <a:p>
            <a:pPr algn="l">
              <a:spcBef>
                <a:spcPts val="0"/>
              </a:spcBef>
              <a:spcAft>
                <a:spcPts val="0"/>
              </a:spcAft>
              <a:defRPr sz="1600" b="0" i="0">
                <a:solidFill>
                  <a:srgbClr val="2D2D2D"/>
                </a:solidFill>
                <a:latin typeface="Garamond"/>
              </a:defRPr>
            </a:pPr>
            <a:r>
              <a:t>Do's and Don'ts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01</a:t>
            </a:r>
          </a:p>
        </p:txBody>
      </p:sp>
      <p:sp>
        <p:nvSpPr>
          <p:cNvPr id="4" name="TextBox 3"/>
          <p:cNvSpPr txBox="1"/>
          <p:nvPr/>
        </p:nvSpPr>
        <p:spPr>
          <a:xfrm>
            <a:off x="731520" y="914400"/>
            <a:ext cx="4572000" cy="731520"/>
          </a:xfrm>
          <a:prstGeom prst="rect">
            <a:avLst/>
          </a:prstGeom>
          <a:noFill/>
        </p:spPr>
        <p:txBody>
          <a:bodyPr wrap="square"/>
          <a:lstStyle/>
          <a:p>
            <a:pPr algn="l">
              <a:spcBef>
                <a:spcPts val="0"/>
              </a:spcBef>
              <a:spcAft>
                <a:spcPts val="0"/>
              </a:spcAft>
              <a:defRPr sz="4200" b="0" i="0">
                <a:solidFill>
                  <a:srgbClr val="FFFFFF"/>
                </a:solidFill>
                <a:latin typeface="Didot"/>
              </a:defRPr>
            </a:pPr>
            <a:r>
              <a:t>Brand Story</a:t>
            </a:r>
          </a:p>
        </p:txBody>
      </p:sp>
      <p:sp>
        <p:nvSpPr>
          <p:cNvPr id="5" name="Rectangle 4"/>
          <p:cNvSpPr/>
          <p:nvPr/>
        </p:nvSpPr>
        <p:spPr>
          <a:xfrm>
            <a:off x="731520" y="1737360"/>
            <a:ext cx="27432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03120"/>
            <a:ext cx="5029200" cy="4114800"/>
          </a:xfrm>
          <a:prstGeom prst="rect">
            <a:avLst/>
          </a:prstGeom>
          <a:noFill/>
        </p:spPr>
        <p:txBody>
          <a:bodyPr wrap="square"/>
          <a:lstStyle/>
          <a:p>
            <a:pPr algn="l">
              <a:spcBef>
                <a:spcPts val="0"/>
              </a:spcBef>
              <a:spcAft>
                <a:spcPts val="0"/>
              </a:spcAft>
              <a:defRPr sz="1500" b="0" i="0">
                <a:solidFill>
                  <a:srgbClr val="F5F0C2"/>
                </a:solidFill>
                <a:latin typeface="Garamond"/>
              </a:defRPr>
            </a:pPr>
            <a:r>
              <a:rPr lang="en-US" dirty="0"/>
              <a:t>Created from a love for beautiful gifting, Rosebella turns everyday occasions into something unforgettable with premium flowers, chocolates, and thoughtful presentation. Every bouquet is designed with care. Every delivery is made to bring a smile.</a:t>
            </a:r>
          </a:p>
          <a:p>
            <a:pPr algn="l">
              <a:spcBef>
                <a:spcPts val="0"/>
              </a:spcBef>
              <a:spcAft>
                <a:spcPts val="0"/>
              </a:spcAft>
              <a:defRPr sz="1500" b="0" i="0">
                <a:solidFill>
                  <a:srgbClr val="F5F0C2"/>
                </a:solidFill>
                <a:latin typeface="Garamond"/>
              </a:defRPr>
            </a:pPr>
            <a:endParaRPr lang="en-US" dirty="0"/>
          </a:p>
          <a:p>
            <a:pPr algn="l">
              <a:spcBef>
                <a:spcPts val="0"/>
              </a:spcBef>
              <a:spcAft>
                <a:spcPts val="0"/>
              </a:spcAft>
              <a:defRPr sz="1500" b="0" i="0">
                <a:solidFill>
                  <a:srgbClr val="F5F0C2"/>
                </a:solidFill>
                <a:latin typeface="Garamond"/>
              </a:defRPr>
            </a:pPr>
            <a:r>
              <a:rPr lang="en-US" dirty="0"/>
              <a:t>We believe giving should feel effortless, yet truly special. From hand-selecting each bloom to wrapping every box with intention, Rosebella creates gifts that speak for you. Whether it’s love, gratitude, or celebration.</a:t>
            </a:r>
            <a:endParaRPr dirty="0"/>
          </a:p>
        </p:txBody>
      </p:sp>
      <p:sp>
        <p:nvSpPr>
          <p:cNvPr id="7" name="Rectangle 6"/>
          <p:cNvSpPr/>
          <p:nvPr/>
        </p:nvSpPr>
        <p:spPr>
          <a:xfrm>
            <a:off x="6400800" y="0"/>
            <a:ext cx="5788152" cy="68580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0" y="2286000"/>
            <a:ext cx="4572000" cy="457200"/>
          </a:xfrm>
          <a:prstGeom prst="rect">
            <a:avLst/>
          </a:prstGeom>
          <a:noFill/>
        </p:spPr>
        <p:txBody>
          <a:bodyPr wrap="square"/>
          <a:lstStyle/>
          <a:p>
            <a:pPr algn="l">
              <a:spcBef>
                <a:spcPts val="0"/>
              </a:spcBef>
              <a:spcAft>
                <a:spcPts val="0"/>
              </a:spcAft>
              <a:defRPr sz="1200" b="1" i="0">
                <a:solidFill>
                  <a:srgbClr val="2D2D2D"/>
                </a:solidFill>
                <a:latin typeface="Montserrat"/>
              </a:defRPr>
            </a:pPr>
            <a:r>
              <a:rPr dirty="0">
                <a:solidFill>
                  <a:schemeClr val="bg1"/>
                </a:solidFill>
              </a:rPr>
              <a:t>OUR MISSION</a:t>
            </a:r>
          </a:p>
        </p:txBody>
      </p:sp>
      <p:sp>
        <p:nvSpPr>
          <p:cNvPr id="9" name="TextBox 8"/>
          <p:cNvSpPr txBox="1"/>
          <p:nvPr/>
        </p:nvSpPr>
        <p:spPr>
          <a:xfrm>
            <a:off x="6858000" y="2743200"/>
            <a:ext cx="4572000" cy="1371600"/>
          </a:xfrm>
          <a:prstGeom prst="rect">
            <a:avLst/>
          </a:prstGeom>
          <a:noFill/>
        </p:spPr>
        <p:txBody>
          <a:bodyPr wrap="square"/>
          <a:lstStyle/>
          <a:p>
            <a:pPr algn="l">
              <a:spcBef>
                <a:spcPts val="0"/>
              </a:spcBef>
              <a:spcAft>
                <a:spcPts val="0"/>
              </a:spcAft>
              <a:defRPr sz="1600" b="0" i="1">
                <a:solidFill>
                  <a:srgbClr val="2D2D2D"/>
                </a:solidFill>
                <a:latin typeface="Garamond"/>
              </a:defRPr>
            </a:pPr>
            <a:r>
              <a:rPr dirty="0">
                <a:solidFill>
                  <a:schemeClr val="bg1"/>
                </a:solidFill>
              </a:rPr>
              <a:t>To deliver elegance and emotion through luxury flowers and chocolates, making every gift an unforgettable experience.</a:t>
            </a:r>
          </a:p>
        </p:txBody>
      </p:sp>
      <p:sp>
        <p:nvSpPr>
          <p:cNvPr id="10" name="TextBox 9"/>
          <p:cNvSpPr txBox="1"/>
          <p:nvPr/>
        </p:nvSpPr>
        <p:spPr>
          <a:xfrm>
            <a:off x="6858000" y="4389120"/>
            <a:ext cx="4572000" cy="457200"/>
          </a:xfrm>
          <a:prstGeom prst="rect">
            <a:avLst/>
          </a:prstGeom>
          <a:noFill/>
        </p:spPr>
        <p:txBody>
          <a:bodyPr wrap="square"/>
          <a:lstStyle/>
          <a:p>
            <a:pPr algn="l">
              <a:spcBef>
                <a:spcPts val="0"/>
              </a:spcBef>
              <a:spcAft>
                <a:spcPts val="0"/>
              </a:spcAft>
              <a:defRPr sz="1200" b="1" i="0">
                <a:solidFill>
                  <a:srgbClr val="2D2D2D"/>
                </a:solidFill>
                <a:latin typeface="Montserrat"/>
              </a:defRPr>
            </a:pPr>
            <a:r>
              <a:rPr dirty="0">
                <a:solidFill>
                  <a:schemeClr val="bg1"/>
                </a:solidFill>
              </a:rPr>
              <a:t>OUR VALUES</a:t>
            </a:r>
          </a:p>
        </p:txBody>
      </p:sp>
      <p:sp>
        <p:nvSpPr>
          <p:cNvPr id="11" name="TextBox 10"/>
          <p:cNvSpPr txBox="1"/>
          <p:nvPr/>
        </p:nvSpPr>
        <p:spPr>
          <a:xfrm>
            <a:off x="6858000" y="4846320"/>
            <a:ext cx="4572000" cy="731520"/>
          </a:xfrm>
          <a:prstGeom prst="rect">
            <a:avLst/>
          </a:prstGeom>
          <a:noFill/>
        </p:spPr>
        <p:txBody>
          <a:bodyPr wrap="square"/>
          <a:lstStyle/>
          <a:p>
            <a:pPr algn="l">
              <a:spcBef>
                <a:spcPts val="0"/>
              </a:spcBef>
              <a:spcAft>
                <a:spcPts val="0"/>
              </a:spcAft>
              <a:defRPr sz="1400" b="0" i="0">
                <a:solidFill>
                  <a:srgbClr val="2D2D2D"/>
                </a:solidFill>
                <a:latin typeface="Garamond"/>
              </a:defRPr>
            </a:pPr>
            <a:r>
              <a:rPr dirty="0">
                <a:solidFill>
                  <a:schemeClr val="bg1"/>
                </a:solidFill>
              </a:rPr>
              <a:t>Elegance • Convenience • Emotion • Excellence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Move="1" noResize="1" noEditPoints="1" noAdjustHandles="1" noChangeArrowheads="1" noChangeShapeType="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a:spLocks noGrp="1" noRot="1" noMove="1" noResize="1" noEditPoints="1" noAdjustHandles="1" noChangeArrowheads="1" noChangeShapeType="1"/>
          </p:cNvSpPr>
          <p:nvPr/>
        </p:nvSpPr>
        <p:spPr>
          <a:xfrm>
            <a:off x="0" y="0"/>
            <a:ext cx="137160" cy="68580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02</a:t>
            </a:r>
          </a:p>
        </p:txBody>
      </p:sp>
      <p:sp>
        <p:nvSpPr>
          <p:cNvPr id="5" name="TextBox 4"/>
          <p:cNvSpPr txBox="1"/>
          <p:nvPr/>
        </p:nvSpPr>
        <p:spPr>
          <a:xfrm>
            <a:off x="731520" y="914400"/>
            <a:ext cx="4572000" cy="731520"/>
          </a:xfrm>
          <a:prstGeom prst="rect">
            <a:avLst/>
          </a:prstGeom>
          <a:noFill/>
        </p:spPr>
        <p:txBody>
          <a:bodyPr wrap="square"/>
          <a:lstStyle/>
          <a:p>
            <a:pPr algn="l">
              <a:spcBef>
                <a:spcPts val="0"/>
              </a:spcBef>
              <a:spcAft>
                <a:spcPts val="0"/>
              </a:spcAft>
              <a:defRPr sz="4200" b="0" i="0">
                <a:solidFill>
                  <a:srgbClr val="2D2D2D"/>
                </a:solidFill>
                <a:latin typeface="Didot"/>
              </a:defRPr>
            </a:pPr>
            <a:r>
              <a:rPr dirty="0"/>
              <a:t>Logo</a:t>
            </a:r>
          </a:p>
        </p:txBody>
      </p:sp>
      <p:sp>
        <p:nvSpPr>
          <p:cNvPr id="6" name="Rectangle 5"/>
          <p:cNvSpPr/>
          <p:nvPr/>
        </p:nvSpPr>
        <p:spPr>
          <a:xfrm>
            <a:off x="731520" y="1737360"/>
            <a:ext cx="2743200" cy="18288"/>
          </a:xfrm>
          <a:prstGeom prst="rect">
            <a:avLst/>
          </a:prstGeom>
          <a:solidFill>
            <a:srgbClr val="C6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03120"/>
            <a:ext cx="4572000" cy="1828800"/>
          </a:xfrm>
          <a:prstGeom prst="rect">
            <a:avLst/>
          </a:prstGeom>
          <a:noFill/>
        </p:spPr>
        <p:txBody>
          <a:bodyPr wrap="square"/>
          <a:lstStyle/>
          <a:p>
            <a:pPr algn="l">
              <a:spcBef>
                <a:spcPts val="0"/>
              </a:spcBef>
              <a:spcAft>
                <a:spcPts val="0"/>
              </a:spcAft>
              <a:defRPr sz="1400" b="0" i="0">
                <a:solidFill>
                  <a:srgbClr val="2D2D2D"/>
                </a:solidFill>
                <a:latin typeface="Garamond"/>
              </a:defRPr>
            </a:pPr>
            <a:r>
              <a:t>The Rosebella logo represents the fusion of elegance and nature. The intertwined 'BR' monogram symbolizes the beautiful connection between the giver and receiver, while the circular frame represents completeness and eternal beauty.</a:t>
            </a:r>
            <a:br/>
            <a:br/>
            <a:r>
              <a:t>The logo should always be treated with care and consistency to maintain brand integrity across all applications.</a:t>
            </a:r>
          </a:p>
        </p:txBody>
      </p:sp>
      <p:sp>
        <p:nvSpPr>
          <p:cNvPr id="8" name="Rectangle 7"/>
          <p:cNvSpPr/>
          <p:nvPr/>
        </p:nvSpPr>
        <p:spPr>
          <a:xfrm>
            <a:off x="6673950" y="1600200"/>
            <a:ext cx="5029200" cy="5029200"/>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65667" y="1045593"/>
            <a:ext cx="5029200" cy="914400"/>
          </a:xfrm>
          <a:prstGeom prst="rect">
            <a:avLst/>
          </a:prstGeom>
          <a:noFill/>
        </p:spPr>
        <p:txBody>
          <a:bodyPr wrap="square"/>
          <a:lstStyle/>
          <a:p>
            <a:pPr algn="ctr">
              <a:spcBef>
                <a:spcPts val="0"/>
              </a:spcBef>
              <a:spcAft>
                <a:spcPts val="0"/>
              </a:spcAft>
              <a:defRPr sz="1600" b="0" i="0">
                <a:solidFill>
                  <a:srgbClr val="C6922A"/>
                </a:solidFill>
                <a:latin typeface="Montserrat"/>
              </a:defRPr>
            </a:pPr>
            <a:r>
              <a:rPr dirty="0"/>
              <a:t>[ Primary Logo ]</a:t>
            </a:r>
          </a:p>
        </p:txBody>
      </p:sp>
      <p:pic>
        <p:nvPicPr>
          <p:cNvPr id="11" name="Picture 10">
            <a:extLst>
              <a:ext uri="{FF2B5EF4-FFF2-40B4-BE49-F238E27FC236}">
                <a16:creationId xmlns:a16="http://schemas.microsoft.com/office/drawing/2014/main" id="{CC7EEA94-1385-B562-A9E5-8C8D257BFE6A}"/>
              </a:ext>
            </a:extLst>
          </p:cNvPr>
          <p:cNvPicPr>
            <a:picLocks noChangeAspect="1"/>
          </p:cNvPicPr>
          <p:nvPr/>
        </p:nvPicPr>
        <p:blipFill>
          <a:blip r:embed="rId2"/>
          <a:stretch>
            <a:fillRect/>
          </a:stretch>
        </p:blipFill>
        <p:spPr>
          <a:xfrm>
            <a:off x="7312404" y="1755648"/>
            <a:ext cx="3670481" cy="45720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4572000" cy="548640"/>
          </a:xfrm>
          <a:prstGeom prst="rect">
            <a:avLst/>
          </a:prstGeom>
          <a:noFill/>
        </p:spPr>
        <p:txBody>
          <a:bodyPr wrap="square"/>
          <a:lstStyle/>
          <a:p>
            <a:pPr algn="l">
              <a:spcBef>
                <a:spcPts val="0"/>
              </a:spcBef>
              <a:spcAft>
                <a:spcPts val="0"/>
              </a:spcAft>
              <a:defRPr sz="3200" b="0" i="0">
                <a:solidFill>
                  <a:srgbClr val="2D2D2D"/>
                </a:solidFill>
                <a:latin typeface="Didot"/>
              </a:defRPr>
            </a:pPr>
            <a:r>
              <a:rPr dirty="0"/>
              <a:t>Logo </a:t>
            </a:r>
            <a:r>
              <a:rPr lang="en-US" dirty="0"/>
              <a:t>Variations</a:t>
            </a:r>
            <a:endParaRPr dirty="0"/>
          </a:p>
        </p:txBody>
      </p:sp>
      <p:sp>
        <p:nvSpPr>
          <p:cNvPr id="4" name="Rectangle 3"/>
          <p:cNvSpPr/>
          <p:nvPr/>
        </p:nvSpPr>
        <p:spPr>
          <a:xfrm>
            <a:off x="731520" y="1005840"/>
            <a:ext cx="1828800" cy="18288"/>
          </a:xfrm>
          <a:prstGeom prst="rect">
            <a:avLst/>
          </a:prstGeom>
          <a:solidFill>
            <a:srgbClr val="C6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749039"/>
            <a:ext cx="3200400" cy="365760"/>
          </a:xfrm>
          <a:prstGeom prst="rect">
            <a:avLst/>
          </a:prstGeom>
          <a:noFill/>
        </p:spPr>
        <p:txBody>
          <a:bodyPr wrap="square"/>
          <a:lstStyle/>
          <a:p>
            <a:pPr algn="ctr">
              <a:spcBef>
                <a:spcPts val="0"/>
              </a:spcBef>
              <a:spcAft>
                <a:spcPts val="0"/>
              </a:spcAft>
              <a:defRPr sz="1100" b="1" i="0">
                <a:solidFill>
                  <a:srgbClr val="2D2D2D"/>
                </a:solidFill>
                <a:latin typeface="Montserrat"/>
              </a:defRPr>
            </a:pPr>
            <a:r>
              <a:t>Primary Logo</a:t>
            </a:r>
          </a:p>
        </p:txBody>
      </p:sp>
      <p:sp>
        <p:nvSpPr>
          <p:cNvPr id="11" name="TextBox 10"/>
          <p:cNvSpPr txBox="1"/>
          <p:nvPr/>
        </p:nvSpPr>
        <p:spPr>
          <a:xfrm>
            <a:off x="4480560" y="3749039"/>
            <a:ext cx="3200400" cy="365760"/>
          </a:xfrm>
          <a:prstGeom prst="rect">
            <a:avLst/>
          </a:prstGeom>
          <a:noFill/>
        </p:spPr>
        <p:txBody>
          <a:bodyPr wrap="square"/>
          <a:lstStyle/>
          <a:p>
            <a:pPr algn="ctr">
              <a:spcBef>
                <a:spcPts val="0"/>
              </a:spcBef>
              <a:spcAft>
                <a:spcPts val="0"/>
              </a:spcAft>
              <a:defRPr sz="1100" b="1" i="0">
                <a:solidFill>
                  <a:srgbClr val="2D2D2D"/>
                </a:solidFill>
                <a:latin typeface="Montserrat"/>
              </a:defRPr>
            </a:pPr>
            <a:r>
              <a:t>Secondary Logo</a:t>
            </a:r>
          </a:p>
        </p:txBody>
      </p:sp>
      <p:sp>
        <p:nvSpPr>
          <p:cNvPr id="13" name="Rectangle 12"/>
          <p:cNvSpPr/>
          <p:nvPr/>
        </p:nvSpPr>
        <p:spPr>
          <a:xfrm>
            <a:off x="8229600" y="1371600"/>
            <a:ext cx="3200400" cy="2286000"/>
          </a:xfrm>
          <a:prstGeom prst="rect">
            <a:avLst/>
          </a:prstGeom>
          <a:solidFill>
            <a:srgbClr val="FFFFFF"/>
          </a:solidFill>
          <a:ln>
            <a:solidFill>
              <a:srgbClr val="2D2D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0" y="3749039"/>
            <a:ext cx="3200400" cy="365760"/>
          </a:xfrm>
          <a:prstGeom prst="rect">
            <a:avLst/>
          </a:prstGeom>
          <a:noFill/>
        </p:spPr>
        <p:txBody>
          <a:bodyPr wrap="square"/>
          <a:lstStyle/>
          <a:p>
            <a:pPr algn="ctr">
              <a:spcBef>
                <a:spcPts val="0"/>
              </a:spcBef>
              <a:spcAft>
                <a:spcPts val="0"/>
              </a:spcAft>
              <a:defRPr sz="1100" b="1" i="0">
                <a:solidFill>
                  <a:srgbClr val="2D2D2D"/>
                </a:solidFill>
                <a:latin typeface="Montserrat"/>
              </a:defRPr>
            </a:pPr>
            <a:r>
              <a:rPr lang="en-US" dirty="0"/>
              <a:t>Horizonal Logo with Text</a:t>
            </a:r>
            <a:endParaRPr dirty="0"/>
          </a:p>
        </p:txBody>
      </p:sp>
      <p:sp>
        <p:nvSpPr>
          <p:cNvPr id="17" name="TextBox 16"/>
          <p:cNvSpPr txBox="1"/>
          <p:nvPr/>
        </p:nvSpPr>
        <p:spPr>
          <a:xfrm>
            <a:off x="731520" y="4846320"/>
            <a:ext cx="2743200" cy="365760"/>
          </a:xfrm>
          <a:prstGeom prst="rect">
            <a:avLst/>
          </a:prstGeom>
          <a:noFill/>
        </p:spPr>
        <p:txBody>
          <a:bodyPr wrap="square"/>
          <a:lstStyle/>
          <a:p>
            <a:pPr algn="l">
              <a:spcBef>
                <a:spcPts val="0"/>
              </a:spcBef>
              <a:spcAft>
                <a:spcPts val="0"/>
              </a:spcAft>
              <a:defRPr sz="1100" b="1" i="0">
                <a:solidFill>
                  <a:srgbClr val="2D2D2D"/>
                </a:solidFill>
                <a:latin typeface="Montserrat"/>
              </a:defRPr>
            </a:pPr>
            <a:r>
              <a:t>Logo with Wordmark</a:t>
            </a:r>
          </a:p>
        </p:txBody>
      </p:sp>
      <p:sp>
        <p:nvSpPr>
          <p:cNvPr id="18" name="Rectangle 17"/>
          <p:cNvSpPr/>
          <p:nvPr/>
        </p:nvSpPr>
        <p:spPr>
          <a:xfrm>
            <a:off x="731520" y="5303520"/>
            <a:ext cx="10698480" cy="109728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5577840"/>
            <a:ext cx="10698480" cy="548640"/>
          </a:xfrm>
          <a:prstGeom prst="rect">
            <a:avLst/>
          </a:prstGeom>
          <a:noFill/>
        </p:spPr>
        <p:txBody>
          <a:bodyPr wrap="square"/>
          <a:lstStyle/>
          <a:p>
            <a:pPr algn="ctr">
              <a:spcBef>
                <a:spcPts val="0"/>
              </a:spcBef>
              <a:spcAft>
                <a:spcPts val="0"/>
              </a:spcAft>
              <a:defRPr sz="2800" b="0" i="0">
                <a:solidFill>
                  <a:srgbClr val="C6922A"/>
                </a:solidFill>
                <a:latin typeface="Didot"/>
              </a:defRPr>
            </a:pPr>
            <a:r>
              <a:t>ROSEBELLA</a:t>
            </a:r>
          </a:p>
        </p:txBody>
      </p:sp>
      <p:pic>
        <p:nvPicPr>
          <p:cNvPr id="21" name="Picture 20" descr="A logo with a leaf in a circle&#10;&#10;AI-generated content may be incorrect.">
            <a:extLst>
              <a:ext uri="{FF2B5EF4-FFF2-40B4-BE49-F238E27FC236}">
                <a16:creationId xmlns:a16="http://schemas.microsoft.com/office/drawing/2014/main" id="{B5782063-32E9-BE35-BFBA-73FA89FC1588}"/>
              </a:ext>
            </a:extLst>
          </p:cNvPr>
          <p:cNvPicPr>
            <a:picLocks noChangeAspect="1"/>
          </p:cNvPicPr>
          <p:nvPr/>
        </p:nvPicPr>
        <p:blipFill>
          <a:blip r:embed="rId2"/>
          <a:stretch>
            <a:fillRect/>
          </a:stretch>
        </p:blipFill>
        <p:spPr>
          <a:xfrm>
            <a:off x="4761706" y="1134494"/>
            <a:ext cx="2638108" cy="2638108"/>
          </a:xfrm>
          <a:prstGeom prst="rect">
            <a:avLst/>
          </a:prstGeom>
        </p:spPr>
      </p:pic>
      <p:pic>
        <p:nvPicPr>
          <p:cNvPr id="23" name="Picture 22" descr="A yellow and black logo&#10;&#10;AI-generated content may be incorrect.">
            <a:extLst>
              <a:ext uri="{FF2B5EF4-FFF2-40B4-BE49-F238E27FC236}">
                <a16:creationId xmlns:a16="http://schemas.microsoft.com/office/drawing/2014/main" id="{AF270746-7F37-EF37-4BC0-C2318B38E30A}"/>
              </a:ext>
            </a:extLst>
          </p:cNvPr>
          <p:cNvPicPr>
            <a:picLocks noChangeAspect="1"/>
          </p:cNvPicPr>
          <p:nvPr/>
        </p:nvPicPr>
        <p:blipFill>
          <a:blip r:embed="rId3"/>
          <a:stretch>
            <a:fillRect/>
          </a:stretch>
        </p:blipFill>
        <p:spPr>
          <a:xfrm>
            <a:off x="1464746" y="1535757"/>
            <a:ext cx="1733947" cy="2167562"/>
          </a:xfrm>
          <a:prstGeom prst="rect">
            <a:avLst/>
          </a:prstGeom>
        </p:spPr>
      </p:pic>
      <p:pic>
        <p:nvPicPr>
          <p:cNvPr id="26" name="Picture 25" descr="A black and gold sign with yellow text&#10;&#10;AI-generated content may be incorrect.">
            <a:extLst>
              <a:ext uri="{FF2B5EF4-FFF2-40B4-BE49-F238E27FC236}">
                <a16:creationId xmlns:a16="http://schemas.microsoft.com/office/drawing/2014/main" id="{5B503CD7-57BF-8938-77B7-A6FFBEC7482B}"/>
              </a:ext>
            </a:extLst>
          </p:cNvPr>
          <p:cNvPicPr>
            <a:picLocks noChangeAspect="1"/>
          </p:cNvPicPr>
          <p:nvPr/>
        </p:nvPicPr>
        <p:blipFill>
          <a:blip r:embed="rId4"/>
          <a:stretch>
            <a:fillRect/>
          </a:stretch>
        </p:blipFill>
        <p:spPr>
          <a:xfrm>
            <a:off x="8707953" y="2105248"/>
            <a:ext cx="2335666" cy="8848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633"/>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5362892" cy="548640"/>
          </a:xfrm>
          <a:prstGeom prst="rect">
            <a:avLst/>
          </a:prstGeom>
          <a:noFill/>
        </p:spPr>
        <p:txBody>
          <a:bodyPr wrap="square"/>
          <a:lstStyle/>
          <a:p>
            <a:pPr>
              <a:defRPr sz="3200" b="0" i="0">
                <a:solidFill>
                  <a:srgbClr val="2D2D2D"/>
                </a:solidFill>
                <a:latin typeface="Didot"/>
              </a:defRPr>
            </a:pPr>
            <a:r>
              <a:rPr dirty="0"/>
              <a:t>Clear Space &amp; Minimum</a:t>
            </a:r>
            <a:r>
              <a:rPr lang="en-US" dirty="0"/>
              <a:t> Size</a:t>
            </a:r>
            <a:endParaRPr dirty="0"/>
          </a:p>
        </p:txBody>
      </p:sp>
      <p:sp>
        <p:nvSpPr>
          <p:cNvPr id="4" name="Rectangle 3"/>
          <p:cNvSpPr/>
          <p:nvPr/>
        </p:nvSpPr>
        <p:spPr>
          <a:xfrm>
            <a:off x="731520" y="1005840"/>
            <a:ext cx="27432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4572000" cy="914400"/>
          </a:xfrm>
          <a:prstGeom prst="rect">
            <a:avLst/>
          </a:prstGeom>
          <a:noFill/>
        </p:spPr>
        <p:txBody>
          <a:bodyPr wrap="square"/>
          <a:lstStyle/>
          <a:p>
            <a:pPr algn="l">
              <a:spcBef>
                <a:spcPts val="0"/>
              </a:spcBef>
              <a:spcAft>
                <a:spcPts val="0"/>
              </a:spcAft>
              <a:defRPr sz="1300" b="0" i="0">
                <a:solidFill>
                  <a:srgbClr val="2D2D2D"/>
                </a:solidFill>
                <a:latin typeface="Garamond"/>
              </a:defRPr>
            </a:pPr>
            <a:r>
              <a:t>To ensure logo visibility and impact, maintain clear space around the logo equal to the height of the 'R' in the monogram on all sides.</a:t>
            </a:r>
          </a:p>
        </p:txBody>
      </p:sp>
      <p:sp>
        <p:nvSpPr>
          <p:cNvPr id="6" name="Rectangle 5"/>
          <p:cNvSpPr/>
          <p:nvPr/>
        </p:nvSpPr>
        <p:spPr>
          <a:xfrm>
            <a:off x="1371600" y="2560320"/>
            <a:ext cx="3657600" cy="274320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103120" y="3108960"/>
            <a:ext cx="2194560" cy="164592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54480" y="3657600"/>
            <a:ext cx="365760" cy="274320"/>
          </a:xfrm>
          <a:prstGeom prst="rect">
            <a:avLst/>
          </a:prstGeom>
          <a:noFill/>
        </p:spPr>
        <p:txBody>
          <a:bodyPr wrap="square"/>
          <a:lstStyle/>
          <a:p>
            <a:pPr algn="ctr">
              <a:spcBef>
                <a:spcPts val="0"/>
              </a:spcBef>
              <a:spcAft>
                <a:spcPts val="0"/>
              </a:spcAft>
              <a:defRPr sz="1000" b="0" i="0">
                <a:solidFill>
                  <a:srgbClr val="C6922A"/>
                </a:solidFill>
                <a:latin typeface="Montserrat"/>
              </a:defRPr>
            </a:pPr>
            <a:r>
              <a:t>X</a:t>
            </a:r>
          </a:p>
        </p:txBody>
      </p:sp>
      <p:sp>
        <p:nvSpPr>
          <p:cNvPr id="10" name="TextBox 9"/>
          <p:cNvSpPr txBox="1"/>
          <p:nvPr/>
        </p:nvSpPr>
        <p:spPr>
          <a:xfrm>
            <a:off x="4480560" y="3657600"/>
            <a:ext cx="365760" cy="274320"/>
          </a:xfrm>
          <a:prstGeom prst="rect">
            <a:avLst/>
          </a:prstGeom>
          <a:noFill/>
        </p:spPr>
        <p:txBody>
          <a:bodyPr wrap="square"/>
          <a:lstStyle/>
          <a:p>
            <a:pPr algn="ctr">
              <a:spcBef>
                <a:spcPts val="0"/>
              </a:spcBef>
              <a:spcAft>
                <a:spcPts val="0"/>
              </a:spcAft>
              <a:defRPr sz="1000" b="0" i="0">
                <a:solidFill>
                  <a:srgbClr val="C6922A"/>
                </a:solidFill>
                <a:latin typeface="Montserrat"/>
              </a:defRPr>
            </a:pPr>
            <a:r>
              <a:t>X</a:t>
            </a:r>
          </a:p>
        </p:txBody>
      </p:sp>
      <p:sp>
        <p:nvSpPr>
          <p:cNvPr id="11" name="TextBox 10"/>
          <p:cNvSpPr txBox="1"/>
          <p:nvPr/>
        </p:nvSpPr>
        <p:spPr>
          <a:xfrm>
            <a:off x="3017520" y="2651760"/>
            <a:ext cx="365760" cy="274320"/>
          </a:xfrm>
          <a:prstGeom prst="rect">
            <a:avLst/>
          </a:prstGeom>
          <a:noFill/>
        </p:spPr>
        <p:txBody>
          <a:bodyPr wrap="square"/>
          <a:lstStyle/>
          <a:p>
            <a:pPr algn="ctr">
              <a:spcBef>
                <a:spcPts val="0"/>
              </a:spcBef>
              <a:spcAft>
                <a:spcPts val="0"/>
              </a:spcAft>
              <a:defRPr sz="1000" b="0" i="0">
                <a:solidFill>
                  <a:srgbClr val="C6922A"/>
                </a:solidFill>
                <a:latin typeface="Montserrat"/>
              </a:defRPr>
            </a:pPr>
            <a:r>
              <a:t>X</a:t>
            </a:r>
          </a:p>
        </p:txBody>
      </p:sp>
      <p:sp>
        <p:nvSpPr>
          <p:cNvPr id="12" name="TextBox 11"/>
          <p:cNvSpPr txBox="1"/>
          <p:nvPr/>
        </p:nvSpPr>
        <p:spPr>
          <a:xfrm>
            <a:off x="3017520" y="5029200"/>
            <a:ext cx="365760" cy="274320"/>
          </a:xfrm>
          <a:prstGeom prst="rect">
            <a:avLst/>
          </a:prstGeom>
          <a:noFill/>
        </p:spPr>
        <p:txBody>
          <a:bodyPr wrap="square"/>
          <a:lstStyle/>
          <a:p>
            <a:pPr algn="ctr">
              <a:spcBef>
                <a:spcPts val="0"/>
              </a:spcBef>
              <a:spcAft>
                <a:spcPts val="0"/>
              </a:spcAft>
              <a:defRPr sz="1000" b="0" i="0">
                <a:solidFill>
                  <a:srgbClr val="C6922A"/>
                </a:solidFill>
                <a:latin typeface="Montserrat"/>
              </a:defRPr>
            </a:pPr>
            <a:r>
              <a:t>X</a:t>
            </a:r>
          </a:p>
        </p:txBody>
      </p:sp>
      <p:sp>
        <p:nvSpPr>
          <p:cNvPr id="13" name="TextBox 12"/>
          <p:cNvSpPr txBox="1"/>
          <p:nvPr/>
        </p:nvSpPr>
        <p:spPr>
          <a:xfrm>
            <a:off x="1371600" y="5486400"/>
            <a:ext cx="3657600" cy="365760"/>
          </a:xfrm>
          <a:prstGeom prst="rect">
            <a:avLst/>
          </a:prstGeom>
          <a:noFill/>
        </p:spPr>
        <p:txBody>
          <a:bodyPr wrap="square"/>
          <a:lstStyle/>
          <a:p>
            <a:pPr algn="ctr">
              <a:spcBef>
                <a:spcPts val="0"/>
              </a:spcBef>
              <a:spcAft>
                <a:spcPts val="0"/>
              </a:spcAft>
              <a:defRPr sz="1100" b="0" i="1">
                <a:solidFill>
                  <a:srgbClr val="6B635B"/>
                </a:solidFill>
                <a:latin typeface="Garamond"/>
              </a:defRPr>
            </a:pPr>
            <a:r>
              <a:t>X = Height of 'R' in monogram</a:t>
            </a:r>
          </a:p>
        </p:txBody>
      </p:sp>
      <p:sp>
        <p:nvSpPr>
          <p:cNvPr id="14" name="TextBox 13"/>
          <p:cNvSpPr txBox="1"/>
          <p:nvPr/>
        </p:nvSpPr>
        <p:spPr>
          <a:xfrm>
            <a:off x="6400800" y="1371600"/>
            <a:ext cx="5029200" cy="365760"/>
          </a:xfrm>
          <a:prstGeom prst="rect">
            <a:avLst/>
          </a:prstGeom>
          <a:noFill/>
        </p:spPr>
        <p:txBody>
          <a:bodyPr wrap="square"/>
          <a:lstStyle/>
          <a:p>
            <a:pPr algn="l">
              <a:spcBef>
                <a:spcPts val="0"/>
              </a:spcBef>
              <a:spcAft>
                <a:spcPts val="0"/>
              </a:spcAft>
              <a:defRPr sz="1400" b="1" i="0">
                <a:solidFill>
                  <a:srgbClr val="2D2D2D"/>
                </a:solidFill>
                <a:latin typeface="Montserrat"/>
              </a:defRPr>
            </a:pPr>
            <a:r>
              <a:t>Minimum Size</a:t>
            </a:r>
          </a:p>
        </p:txBody>
      </p:sp>
      <p:sp>
        <p:nvSpPr>
          <p:cNvPr id="15" name="TextBox 14"/>
          <p:cNvSpPr txBox="1"/>
          <p:nvPr/>
        </p:nvSpPr>
        <p:spPr>
          <a:xfrm>
            <a:off x="6400800" y="1828800"/>
            <a:ext cx="5029200" cy="914400"/>
          </a:xfrm>
          <a:prstGeom prst="rect">
            <a:avLst/>
          </a:prstGeom>
          <a:noFill/>
        </p:spPr>
        <p:txBody>
          <a:bodyPr wrap="square"/>
          <a:lstStyle/>
          <a:p>
            <a:pPr algn="l">
              <a:spcBef>
                <a:spcPts val="0"/>
              </a:spcBef>
              <a:spcAft>
                <a:spcPts val="0"/>
              </a:spcAft>
              <a:defRPr sz="1300" b="0" i="0">
                <a:solidFill>
                  <a:srgbClr val="2D2D2D"/>
                </a:solidFill>
                <a:latin typeface="Garamond"/>
              </a:defRPr>
            </a:pPr>
            <a:r>
              <a:t>To maintain legibility, the logo should never be reproduced smaller than the following sizes:</a:t>
            </a:r>
          </a:p>
        </p:txBody>
      </p:sp>
      <p:sp>
        <p:nvSpPr>
          <p:cNvPr id="16" name="Rectangle 15"/>
          <p:cNvSpPr/>
          <p:nvPr/>
        </p:nvSpPr>
        <p:spPr>
          <a:xfrm>
            <a:off x="6400800" y="2926080"/>
            <a:ext cx="2103120" cy="137160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3383280"/>
            <a:ext cx="2103120" cy="365760"/>
          </a:xfrm>
          <a:prstGeom prst="rect">
            <a:avLst/>
          </a:prstGeom>
          <a:noFill/>
        </p:spPr>
        <p:txBody>
          <a:bodyPr wrap="square"/>
          <a:lstStyle/>
          <a:p>
            <a:pPr algn="ctr">
              <a:spcBef>
                <a:spcPts val="0"/>
              </a:spcBef>
              <a:spcAft>
                <a:spcPts val="0"/>
              </a:spcAft>
              <a:defRPr sz="1400" b="0" i="0">
                <a:solidFill>
                  <a:srgbClr val="2D2D2D"/>
                </a:solidFill>
                <a:latin typeface="Montserrat"/>
              </a:defRPr>
            </a:pPr>
            <a:r>
              <a:rPr dirty="0"/>
              <a:t>[ ]</a:t>
            </a:r>
          </a:p>
        </p:txBody>
      </p:sp>
      <p:sp>
        <p:nvSpPr>
          <p:cNvPr id="18" name="TextBox 17"/>
          <p:cNvSpPr txBox="1"/>
          <p:nvPr/>
        </p:nvSpPr>
        <p:spPr>
          <a:xfrm>
            <a:off x="6400800" y="4389120"/>
            <a:ext cx="2103120" cy="274320"/>
          </a:xfrm>
          <a:prstGeom prst="rect">
            <a:avLst/>
          </a:prstGeom>
          <a:noFill/>
        </p:spPr>
        <p:txBody>
          <a:bodyPr wrap="square"/>
          <a:lstStyle/>
          <a:p>
            <a:pPr algn="ctr">
              <a:spcBef>
                <a:spcPts val="0"/>
              </a:spcBef>
              <a:spcAft>
                <a:spcPts val="0"/>
              </a:spcAft>
              <a:defRPr sz="1000" b="1" i="0">
                <a:solidFill>
                  <a:srgbClr val="2D2D2D"/>
                </a:solidFill>
                <a:latin typeface="Montserrat"/>
              </a:defRPr>
            </a:pPr>
            <a:r>
              <a:t>Print: 0.75 inch</a:t>
            </a:r>
          </a:p>
        </p:txBody>
      </p:sp>
      <p:sp>
        <p:nvSpPr>
          <p:cNvPr id="19" name="TextBox 18"/>
          <p:cNvSpPr txBox="1"/>
          <p:nvPr/>
        </p:nvSpPr>
        <p:spPr>
          <a:xfrm>
            <a:off x="6400800" y="4663440"/>
            <a:ext cx="2103120" cy="274320"/>
          </a:xfrm>
          <a:prstGeom prst="rect">
            <a:avLst/>
          </a:prstGeom>
          <a:noFill/>
        </p:spPr>
        <p:txBody>
          <a:bodyPr wrap="square"/>
          <a:lstStyle/>
          <a:p>
            <a:pPr algn="ctr">
              <a:spcBef>
                <a:spcPts val="0"/>
              </a:spcBef>
              <a:spcAft>
                <a:spcPts val="0"/>
              </a:spcAft>
              <a:defRPr sz="900" b="0" i="0">
                <a:solidFill>
                  <a:srgbClr val="6B635B"/>
                </a:solidFill>
                <a:latin typeface="Garamond"/>
              </a:defRPr>
            </a:pPr>
            <a:r>
              <a:t>(19mm)</a:t>
            </a:r>
          </a:p>
        </p:txBody>
      </p:sp>
      <p:sp>
        <p:nvSpPr>
          <p:cNvPr id="20" name="Rectangle 19"/>
          <p:cNvSpPr/>
          <p:nvPr/>
        </p:nvSpPr>
        <p:spPr>
          <a:xfrm>
            <a:off x="8961120" y="2926080"/>
            <a:ext cx="2103120" cy="137160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1120" y="3383280"/>
            <a:ext cx="2103120" cy="365760"/>
          </a:xfrm>
          <a:prstGeom prst="rect">
            <a:avLst/>
          </a:prstGeom>
          <a:noFill/>
        </p:spPr>
        <p:txBody>
          <a:bodyPr wrap="square"/>
          <a:lstStyle/>
          <a:p>
            <a:pPr algn="ctr">
              <a:spcBef>
                <a:spcPts val="0"/>
              </a:spcBef>
              <a:spcAft>
                <a:spcPts val="0"/>
              </a:spcAft>
              <a:defRPr sz="1400" b="0" i="0">
                <a:solidFill>
                  <a:srgbClr val="2D2D2D"/>
                </a:solidFill>
                <a:latin typeface="Montserrat"/>
              </a:defRPr>
            </a:pPr>
            <a:r>
              <a:t>[ ]</a:t>
            </a:r>
          </a:p>
        </p:txBody>
      </p:sp>
      <p:sp>
        <p:nvSpPr>
          <p:cNvPr id="22" name="TextBox 21"/>
          <p:cNvSpPr txBox="1"/>
          <p:nvPr/>
        </p:nvSpPr>
        <p:spPr>
          <a:xfrm>
            <a:off x="8961120" y="4389120"/>
            <a:ext cx="2103120" cy="274320"/>
          </a:xfrm>
          <a:prstGeom prst="rect">
            <a:avLst/>
          </a:prstGeom>
          <a:noFill/>
        </p:spPr>
        <p:txBody>
          <a:bodyPr wrap="square"/>
          <a:lstStyle/>
          <a:p>
            <a:pPr algn="ctr">
              <a:spcBef>
                <a:spcPts val="0"/>
              </a:spcBef>
              <a:spcAft>
                <a:spcPts val="0"/>
              </a:spcAft>
              <a:defRPr sz="1000" b="1" i="0">
                <a:solidFill>
                  <a:srgbClr val="2D2D2D"/>
                </a:solidFill>
                <a:latin typeface="Montserrat"/>
              </a:defRPr>
            </a:pPr>
            <a:r>
              <a:t>Digital: 40px</a:t>
            </a:r>
          </a:p>
        </p:txBody>
      </p:sp>
      <p:sp>
        <p:nvSpPr>
          <p:cNvPr id="23" name="TextBox 22"/>
          <p:cNvSpPr txBox="1"/>
          <p:nvPr/>
        </p:nvSpPr>
        <p:spPr>
          <a:xfrm>
            <a:off x="8961120" y="4663440"/>
            <a:ext cx="2103120" cy="274320"/>
          </a:xfrm>
          <a:prstGeom prst="rect">
            <a:avLst/>
          </a:prstGeom>
          <a:noFill/>
        </p:spPr>
        <p:txBody>
          <a:bodyPr wrap="square"/>
          <a:lstStyle/>
          <a:p>
            <a:pPr algn="ctr">
              <a:spcBef>
                <a:spcPts val="0"/>
              </a:spcBef>
              <a:spcAft>
                <a:spcPts val="0"/>
              </a:spcAft>
              <a:defRPr sz="900" b="0" i="0">
                <a:solidFill>
                  <a:srgbClr val="6B635B"/>
                </a:solidFill>
                <a:latin typeface="Garamond"/>
              </a:defRPr>
            </a:pPr>
            <a:r>
              <a:t>(favicon: 16px icon only)</a:t>
            </a:r>
          </a:p>
        </p:txBody>
      </p:sp>
      <p:pic>
        <p:nvPicPr>
          <p:cNvPr id="24" name="Picture 23" descr="A yellow and black logo&#10;&#10;AI-generated content may be incorrect.">
            <a:extLst>
              <a:ext uri="{FF2B5EF4-FFF2-40B4-BE49-F238E27FC236}">
                <a16:creationId xmlns:a16="http://schemas.microsoft.com/office/drawing/2014/main" id="{5FDF9A55-154D-F200-33F1-BD2D052AA07B}"/>
              </a:ext>
            </a:extLst>
          </p:cNvPr>
          <p:cNvPicPr>
            <a:picLocks noChangeAspect="1"/>
          </p:cNvPicPr>
          <p:nvPr/>
        </p:nvPicPr>
        <p:blipFill>
          <a:blip r:embed="rId2"/>
          <a:stretch>
            <a:fillRect/>
          </a:stretch>
        </p:blipFill>
        <p:spPr>
          <a:xfrm>
            <a:off x="2406315" y="2906830"/>
            <a:ext cx="1591393" cy="19893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4572000" cy="548640"/>
          </a:xfrm>
          <a:prstGeom prst="rect">
            <a:avLst/>
          </a:prstGeom>
          <a:noFill/>
        </p:spPr>
        <p:txBody>
          <a:bodyPr wrap="square"/>
          <a:lstStyle/>
          <a:p>
            <a:pPr algn="l">
              <a:spcBef>
                <a:spcPts val="0"/>
              </a:spcBef>
              <a:spcAft>
                <a:spcPts val="0"/>
              </a:spcAft>
              <a:defRPr sz="3200" b="0" i="0">
                <a:solidFill>
                  <a:srgbClr val="2D2D2D"/>
                </a:solidFill>
                <a:latin typeface="Didot"/>
              </a:defRPr>
            </a:pPr>
            <a:r>
              <a:t>Incorrect Logo Usage</a:t>
            </a:r>
          </a:p>
        </p:txBody>
      </p:sp>
      <p:sp>
        <p:nvSpPr>
          <p:cNvPr id="4" name="Rectangle 3"/>
          <p:cNvSpPr/>
          <p:nvPr/>
        </p:nvSpPr>
        <p:spPr>
          <a:xfrm>
            <a:off x="731520" y="1005840"/>
            <a:ext cx="27432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9144000" cy="457200"/>
          </a:xfrm>
          <a:prstGeom prst="rect">
            <a:avLst/>
          </a:prstGeom>
          <a:noFill/>
        </p:spPr>
        <p:txBody>
          <a:bodyPr wrap="square"/>
          <a:lstStyle/>
          <a:p>
            <a:pPr algn="l">
              <a:spcBef>
                <a:spcPts val="0"/>
              </a:spcBef>
              <a:spcAft>
                <a:spcPts val="0"/>
              </a:spcAft>
              <a:defRPr sz="1400" b="0" i="0">
                <a:solidFill>
                  <a:srgbClr val="6B635B"/>
                </a:solidFill>
                <a:latin typeface="Garamond"/>
              </a:defRPr>
            </a:pPr>
            <a:r>
              <a:t>To maintain brand consistency, please avoid the following:</a:t>
            </a:r>
          </a:p>
        </p:txBody>
      </p:sp>
      <p:sp>
        <p:nvSpPr>
          <p:cNvPr id="6" name="Rectangle 5"/>
          <p:cNvSpPr/>
          <p:nvPr/>
        </p:nvSpPr>
        <p:spPr>
          <a:xfrm>
            <a:off x="731520" y="1828800"/>
            <a:ext cx="3200400" cy="164592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377440"/>
            <a:ext cx="3200400" cy="365760"/>
          </a:xfrm>
          <a:prstGeom prst="rect">
            <a:avLst/>
          </a:prstGeom>
          <a:noFill/>
        </p:spPr>
        <p:txBody>
          <a:bodyPr wrap="square"/>
          <a:lstStyle/>
          <a:p>
            <a:pPr algn="ctr">
              <a:spcBef>
                <a:spcPts val="0"/>
              </a:spcBef>
              <a:spcAft>
                <a:spcPts val="0"/>
              </a:spcAft>
              <a:defRPr sz="2400" b="0" i="0">
                <a:solidFill>
                  <a:srgbClr val="CC3333"/>
                </a:solidFill>
                <a:latin typeface="Arial"/>
              </a:defRPr>
            </a:pPr>
            <a:r>
              <a:t>✕</a:t>
            </a:r>
          </a:p>
        </p:txBody>
      </p:sp>
      <p:sp>
        <p:nvSpPr>
          <p:cNvPr id="8" name="TextBox 7"/>
          <p:cNvSpPr txBox="1"/>
          <p:nvPr/>
        </p:nvSpPr>
        <p:spPr>
          <a:xfrm>
            <a:off x="731520" y="3566160"/>
            <a:ext cx="3200400" cy="274320"/>
          </a:xfrm>
          <a:prstGeom prst="rect">
            <a:avLst/>
          </a:prstGeom>
          <a:noFill/>
        </p:spPr>
        <p:txBody>
          <a:bodyPr wrap="square"/>
          <a:lstStyle/>
          <a:p>
            <a:pPr algn="ctr">
              <a:spcBef>
                <a:spcPts val="0"/>
              </a:spcBef>
              <a:spcAft>
                <a:spcPts val="0"/>
              </a:spcAft>
              <a:defRPr sz="1000" b="1" i="0">
                <a:solidFill>
                  <a:srgbClr val="2D2D2D"/>
                </a:solidFill>
                <a:latin typeface="Montserrat"/>
              </a:defRPr>
            </a:pPr>
            <a:r>
              <a:t>Don't stretch or distort</a:t>
            </a:r>
          </a:p>
        </p:txBody>
      </p:sp>
      <p:sp>
        <p:nvSpPr>
          <p:cNvPr id="9" name="TextBox 8"/>
          <p:cNvSpPr txBox="1"/>
          <p:nvPr/>
        </p:nvSpPr>
        <p:spPr>
          <a:xfrm>
            <a:off x="731520" y="3840480"/>
            <a:ext cx="3200400" cy="274320"/>
          </a:xfrm>
          <a:prstGeom prst="rect">
            <a:avLst/>
          </a:prstGeom>
          <a:noFill/>
        </p:spPr>
        <p:txBody>
          <a:bodyPr wrap="square"/>
          <a:lstStyle/>
          <a:p>
            <a:pPr algn="ctr">
              <a:spcBef>
                <a:spcPts val="0"/>
              </a:spcBef>
              <a:spcAft>
                <a:spcPts val="0"/>
              </a:spcAft>
              <a:defRPr sz="900" b="0" i="0">
                <a:solidFill>
                  <a:srgbClr val="6B635B"/>
                </a:solidFill>
                <a:latin typeface="Garamond"/>
              </a:defRPr>
            </a:pPr>
            <a:r>
              <a:t>Maintain original proportions</a:t>
            </a:r>
          </a:p>
        </p:txBody>
      </p:sp>
      <p:sp>
        <p:nvSpPr>
          <p:cNvPr id="10" name="Rectangle 9"/>
          <p:cNvSpPr/>
          <p:nvPr/>
        </p:nvSpPr>
        <p:spPr>
          <a:xfrm>
            <a:off x="4480560" y="1828800"/>
            <a:ext cx="3200400" cy="164592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2377440"/>
            <a:ext cx="3200400" cy="365760"/>
          </a:xfrm>
          <a:prstGeom prst="rect">
            <a:avLst/>
          </a:prstGeom>
          <a:noFill/>
        </p:spPr>
        <p:txBody>
          <a:bodyPr wrap="square"/>
          <a:lstStyle/>
          <a:p>
            <a:pPr algn="ctr">
              <a:spcBef>
                <a:spcPts val="0"/>
              </a:spcBef>
              <a:spcAft>
                <a:spcPts val="0"/>
              </a:spcAft>
              <a:defRPr sz="2400" b="0" i="0">
                <a:solidFill>
                  <a:srgbClr val="CC3333"/>
                </a:solidFill>
                <a:latin typeface="Arial"/>
              </a:defRPr>
            </a:pPr>
            <a:r>
              <a:t>✕</a:t>
            </a:r>
          </a:p>
        </p:txBody>
      </p:sp>
      <p:sp>
        <p:nvSpPr>
          <p:cNvPr id="12" name="TextBox 11"/>
          <p:cNvSpPr txBox="1"/>
          <p:nvPr/>
        </p:nvSpPr>
        <p:spPr>
          <a:xfrm>
            <a:off x="4480560" y="3566160"/>
            <a:ext cx="3200400" cy="274320"/>
          </a:xfrm>
          <a:prstGeom prst="rect">
            <a:avLst/>
          </a:prstGeom>
          <a:noFill/>
        </p:spPr>
        <p:txBody>
          <a:bodyPr wrap="square"/>
          <a:lstStyle/>
          <a:p>
            <a:pPr algn="ctr">
              <a:spcBef>
                <a:spcPts val="0"/>
              </a:spcBef>
              <a:spcAft>
                <a:spcPts val="0"/>
              </a:spcAft>
              <a:defRPr sz="1000" b="1" i="0">
                <a:solidFill>
                  <a:srgbClr val="2D2D2D"/>
                </a:solidFill>
                <a:latin typeface="Montserrat"/>
              </a:defRPr>
            </a:pPr>
            <a:r>
              <a:rPr dirty="0"/>
              <a:t>Don't change colors</a:t>
            </a:r>
          </a:p>
        </p:txBody>
      </p:sp>
      <p:sp>
        <p:nvSpPr>
          <p:cNvPr id="13" name="TextBox 12"/>
          <p:cNvSpPr txBox="1"/>
          <p:nvPr/>
        </p:nvSpPr>
        <p:spPr>
          <a:xfrm>
            <a:off x="4480560" y="3840480"/>
            <a:ext cx="3200400" cy="274320"/>
          </a:xfrm>
          <a:prstGeom prst="rect">
            <a:avLst/>
          </a:prstGeom>
          <a:noFill/>
        </p:spPr>
        <p:txBody>
          <a:bodyPr wrap="square"/>
          <a:lstStyle/>
          <a:p>
            <a:pPr algn="ctr">
              <a:spcBef>
                <a:spcPts val="0"/>
              </a:spcBef>
              <a:spcAft>
                <a:spcPts val="0"/>
              </a:spcAft>
              <a:defRPr sz="900" b="0" i="0">
                <a:solidFill>
                  <a:srgbClr val="6B635B"/>
                </a:solidFill>
                <a:latin typeface="Garamond"/>
              </a:defRPr>
            </a:pPr>
            <a:r>
              <a:t>Use only approved color versions</a:t>
            </a:r>
          </a:p>
        </p:txBody>
      </p:sp>
      <p:sp>
        <p:nvSpPr>
          <p:cNvPr id="14" name="Rectangle 13"/>
          <p:cNvSpPr/>
          <p:nvPr/>
        </p:nvSpPr>
        <p:spPr>
          <a:xfrm>
            <a:off x="8229600" y="1828800"/>
            <a:ext cx="3200400" cy="164592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0" y="2377440"/>
            <a:ext cx="3200400" cy="365760"/>
          </a:xfrm>
          <a:prstGeom prst="rect">
            <a:avLst/>
          </a:prstGeom>
          <a:noFill/>
        </p:spPr>
        <p:txBody>
          <a:bodyPr wrap="square"/>
          <a:lstStyle/>
          <a:p>
            <a:pPr algn="ctr">
              <a:spcBef>
                <a:spcPts val="0"/>
              </a:spcBef>
              <a:spcAft>
                <a:spcPts val="0"/>
              </a:spcAft>
              <a:defRPr sz="2400" b="0" i="0">
                <a:solidFill>
                  <a:srgbClr val="CC3333"/>
                </a:solidFill>
                <a:latin typeface="Arial"/>
              </a:defRPr>
            </a:pPr>
            <a:r>
              <a:t>✕</a:t>
            </a:r>
          </a:p>
        </p:txBody>
      </p:sp>
      <p:sp>
        <p:nvSpPr>
          <p:cNvPr id="16" name="TextBox 15"/>
          <p:cNvSpPr txBox="1"/>
          <p:nvPr/>
        </p:nvSpPr>
        <p:spPr>
          <a:xfrm>
            <a:off x="8229600" y="3566160"/>
            <a:ext cx="3200400" cy="274320"/>
          </a:xfrm>
          <a:prstGeom prst="rect">
            <a:avLst/>
          </a:prstGeom>
          <a:noFill/>
        </p:spPr>
        <p:txBody>
          <a:bodyPr wrap="square"/>
          <a:lstStyle/>
          <a:p>
            <a:pPr algn="ctr">
              <a:spcBef>
                <a:spcPts val="0"/>
              </a:spcBef>
              <a:spcAft>
                <a:spcPts val="0"/>
              </a:spcAft>
              <a:defRPr sz="1000" b="1" i="0">
                <a:solidFill>
                  <a:srgbClr val="2D2D2D"/>
                </a:solidFill>
                <a:latin typeface="Montserrat"/>
              </a:defRPr>
            </a:pPr>
            <a:r>
              <a:t>Don't add effects</a:t>
            </a:r>
          </a:p>
        </p:txBody>
      </p:sp>
      <p:sp>
        <p:nvSpPr>
          <p:cNvPr id="17" name="TextBox 16"/>
          <p:cNvSpPr txBox="1"/>
          <p:nvPr/>
        </p:nvSpPr>
        <p:spPr>
          <a:xfrm>
            <a:off x="8229600" y="3840480"/>
            <a:ext cx="3200400" cy="274320"/>
          </a:xfrm>
          <a:prstGeom prst="rect">
            <a:avLst/>
          </a:prstGeom>
          <a:noFill/>
        </p:spPr>
        <p:txBody>
          <a:bodyPr wrap="square"/>
          <a:lstStyle/>
          <a:p>
            <a:pPr algn="ctr">
              <a:spcBef>
                <a:spcPts val="0"/>
              </a:spcBef>
              <a:spcAft>
                <a:spcPts val="0"/>
              </a:spcAft>
              <a:defRPr sz="900" b="0" i="0">
                <a:solidFill>
                  <a:srgbClr val="6B635B"/>
                </a:solidFill>
                <a:latin typeface="Garamond"/>
              </a:defRPr>
            </a:pPr>
            <a:r>
              <a:t>No shadows, gradients, or outlines</a:t>
            </a:r>
          </a:p>
        </p:txBody>
      </p:sp>
      <p:sp>
        <p:nvSpPr>
          <p:cNvPr id="18" name="Rectangle 17"/>
          <p:cNvSpPr/>
          <p:nvPr/>
        </p:nvSpPr>
        <p:spPr>
          <a:xfrm>
            <a:off x="731520" y="4114800"/>
            <a:ext cx="3200400" cy="164592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663440"/>
            <a:ext cx="3200400" cy="365760"/>
          </a:xfrm>
          <a:prstGeom prst="rect">
            <a:avLst/>
          </a:prstGeom>
          <a:noFill/>
        </p:spPr>
        <p:txBody>
          <a:bodyPr wrap="square"/>
          <a:lstStyle/>
          <a:p>
            <a:pPr algn="ctr">
              <a:spcBef>
                <a:spcPts val="0"/>
              </a:spcBef>
              <a:spcAft>
                <a:spcPts val="0"/>
              </a:spcAft>
              <a:defRPr sz="2400" b="0" i="0">
                <a:solidFill>
                  <a:srgbClr val="CC3333"/>
                </a:solidFill>
                <a:latin typeface="Arial"/>
              </a:defRPr>
            </a:pPr>
            <a:r>
              <a:t>✕</a:t>
            </a:r>
          </a:p>
        </p:txBody>
      </p:sp>
      <p:sp>
        <p:nvSpPr>
          <p:cNvPr id="20" name="TextBox 19"/>
          <p:cNvSpPr txBox="1"/>
          <p:nvPr/>
        </p:nvSpPr>
        <p:spPr>
          <a:xfrm>
            <a:off x="731520" y="5852160"/>
            <a:ext cx="3200400" cy="274320"/>
          </a:xfrm>
          <a:prstGeom prst="rect">
            <a:avLst/>
          </a:prstGeom>
          <a:noFill/>
        </p:spPr>
        <p:txBody>
          <a:bodyPr wrap="square"/>
          <a:lstStyle/>
          <a:p>
            <a:pPr algn="ctr">
              <a:spcBef>
                <a:spcPts val="0"/>
              </a:spcBef>
              <a:spcAft>
                <a:spcPts val="0"/>
              </a:spcAft>
              <a:defRPr sz="1000" b="1" i="0">
                <a:solidFill>
                  <a:srgbClr val="2D2D2D"/>
                </a:solidFill>
                <a:latin typeface="Montserrat"/>
              </a:defRPr>
            </a:pPr>
            <a:r>
              <a:t>Don't rotate</a:t>
            </a:r>
          </a:p>
        </p:txBody>
      </p:sp>
      <p:sp>
        <p:nvSpPr>
          <p:cNvPr id="21" name="TextBox 20"/>
          <p:cNvSpPr txBox="1"/>
          <p:nvPr/>
        </p:nvSpPr>
        <p:spPr>
          <a:xfrm>
            <a:off x="731520" y="6126480"/>
            <a:ext cx="3200400" cy="274320"/>
          </a:xfrm>
          <a:prstGeom prst="rect">
            <a:avLst/>
          </a:prstGeom>
          <a:noFill/>
        </p:spPr>
        <p:txBody>
          <a:bodyPr wrap="square"/>
          <a:lstStyle/>
          <a:p>
            <a:pPr algn="ctr">
              <a:spcBef>
                <a:spcPts val="0"/>
              </a:spcBef>
              <a:spcAft>
                <a:spcPts val="0"/>
              </a:spcAft>
              <a:defRPr sz="900" b="0" i="0">
                <a:solidFill>
                  <a:srgbClr val="6B635B"/>
                </a:solidFill>
                <a:latin typeface="Garamond"/>
              </a:defRPr>
            </a:pPr>
            <a:r>
              <a:t>Keep logo upright at all times</a:t>
            </a:r>
          </a:p>
        </p:txBody>
      </p:sp>
      <p:sp>
        <p:nvSpPr>
          <p:cNvPr id="22" name="Rectangle 21"/>
          <p:cNvSpPr/>
          <p:nvPr/>
        </p:nvSpPr>
        <p:spPr>
          <a:xfrm>
            <a:off x="4480560" y="4114800"/>
            <a:ext cx="3200400" cy="164592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80560" y="4663440"/>
            <a:ext cx="3200400" cy="365760"/>
          </a:xfrm>
          <a:prstGeom prst="rect">
            <a:avLst/>
          </a:prstGeom>
          <a:noFill/>
        </p:spPr>
        <p:txBody>
          <a:bodyPr wrap="square"/>
          <a:lstStyle/>
          <a:p>
            <a:pPr algn="ctr">
              <a:spcBef>
                <a:spcPts val="0"/>
              </a:spcBef>
              <a:spcAft>
                <a:spcPts val="0"/>
              </a:spcAft>
              <a:defRPr sz="2400" b="0" i="0">
                <a:solidFill>
                  <a:srgbClr val="CC3333"/>
                </a:solidFill>
                <a:latin typeface="Arial"/>
              </a:defRPr>
            </a:pPr>
            <a:endParaRPr dirty="0"/>
          </a:p>
        </p:txBody>
      </p:sp>
      <p:sp>
        <p:nvSpPr>
          <p:cNvPr id="24" name="TextBox 23"/>
          <p:cNvSpPr txBox="1"/>
          <p:nvPr/>
        </p:nvSpPr>
        <p:spPr>
          <a:xfrm>
            <a:off x="4480560" y="5852160"/>
            <a:ext cx="3200400" cy="274320"/>
          </a:xfrm>
          <a:prstGeom prst="rect">
            <a:avLst/>
          </a:prstGeom>
          <a:noFill/>
        </p:spPr>
        <p:txBody>
          <a:bodyPr wrap="square"/>
          <a:lstStyle/>
          <a:p>
            <a:pPr algn="ctr">
              <a:spcBef>
                <a:spcPts val="0"/>
              </a:spcBef>
              <a:spcAft>
                <a:spcPts val="0"/>
              </a:spcAft>
              <a:defRPr sz="1000" b="1" i="0">
                <a:solidFill>
                  <a:srgbClr val="2D2D2D"/>
                </a:solidFill>
                <a:latin typeface="Montserrat"/>
              </a:defRPr>
            </a:pPr>
            <a:r>
              <a:t>Don't use low contrast</a:t>
            </a:r>
          </a:p>
        </p:txBody>
      </p:sp>
      <p:sp>
        <p:nvSpPr>
          <p:cNvPr id="25" name="TextBox 24"/>
          <p:cNvSpPr txBox="1"/>
          <p:nvPr/>
        </p:nvSpPr>
        <p:spPr>
          <a:xfrm>
            <a:off x="4480560" y="6126480"/>
            <a:ext cx="3200400" cy="274320"/>
          </a:xfrm>
          <a:prstGeom prst="rect">
            <a:avLst/>
          </a:prstGeom>
          <a:noFill/>
        </p:spPr>
        <p:txBody>
          <a:bodyPr wrap="square"/>
          <a:lstStyle/>
          <a:p>
            <a:pPr algn="ctr">
              <a:spcBef>
                <a:spcPts val="0"/>
              </a:spcBef>
              <a:spcAft>
                <a:spcPts val="0"/>
              </a:spcAft>
              <a:defRPr sz="900" b="0" i="0">
                <a:solidFill>
                  <a:srgbClr val="6B635B"/>
                </a:solidFill>
                <a:latin typeface="Garamond"/>
              </a:defRPr>
            </a:pPr>
            <a:r>
              <a:t>Ensure adequate background contrast</a:t>
            </a:r>
          </a:p>
        </p:txBody>
      </p:sp>
      <p:sp>
        <p:nvSpPr>
          <p:cNvPr id="26" name="Rectangle 25"/>
          <p:cNvSpPr/>
          <p:nvPr/>
        </p:nvSpPr>
        <p:spPr>
          <a:xfrm>
            <a:off x="8229600" y="4114800"/>
            <a:ext cx="3200400" cy="164592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4663440"/>
            <a:ext cx="3200400" cy="365760"/>
          </a:xfrm>
          <a:prstGeom prst="rect">
            <a:avLst/>
          </a:prstGeom>
          <a:noFill/>
        </p:spPr>
        <p:txBody>
          <a:bodyPr wrap="square"/>
          <a:lstStyle/>
          <a:p>
            <a:pPr algn="ctr">
              <a:spcBef>
                <a:spcPts val="0"/>
              </a:spcBef>
              <a:spcAft>
                <a:spcPts val="0"/>
              </a:spcAft>
              <a:defRPr sz="2400" b="0" i="0">
                <a:solidFill>
                  <a:srgbClr val="CC3333"/>
                </a:solidFill>
                <a:latin typeface="Arial"/>
              </a:defRPr>
            </a:pPr>
            <a:r>
              <a:t>✕</a:t>
            </a:r>
          </a:p>
        </p:txBody>
      </p:sp>
      <p:sp>
        <p:nvSpPr>
          <p:cNvPr id="28" name="TextBox 27"/>
          <p:cNvSpPr txBox="1"/>
          <p:nvPr/>
        </p:nvSpPr>
        <p:spPr>
          <a:xfrm>
            <a:off x="8229600" y="5852160"/>
            <a:ext cx="3200400" cy="274320"/>
          </a:xfrm>
          <a:prstGeom prst="rect">
            <a:avLst/>
          </a:prstGeom>
          <a:noFill/>
        </p:spPr>
        <p:txBody>
          <a:bodyPr wrap="square"/>
          <a:lstStyle/>
          <a:p>
            <a:pPr algn="ctr">
              <a:spcBef>
                <a:spcPts val="0"/>
              </a:spcBef>
              <a:spcAft>
                <a:spcPts val="0"/>
              </a:spcAft>
              <a:defRPr sz="1000" b="1" i="0">
                <a:solidFill>
                  <a:srgbClr val="2D2D2D"/>
                </a:solidFill>
                <a:latin typeface="Montserrat"/>
              </a:defRPr>
            </a:pPr>
            <a:r>
              <a:t>Don't crop the logo</a:t>
            </a:r>
          </a:p>
        </p:txBody>
      </p:sp>
      <p:sp>
        <p:nvSpPr>
          <p:cNvPr id="29" name="TextBox 28"/>
          <p:cNvSpPr txBox="1"/>
          <p:nvPr/>
        </p:nvSpPr>
        <p:spPr>
          <a:xfrm>
            <a:off x="8229600" y="6126480"/>
            <a:ext cx="3200400" cy="274320"/>
          </a:xfrm>
          <a:prstGeom prst="rect">
            <a:avLst/>
          </a:prstGeom>
          <a:noFill/>
        </p:spPr>
        <p:txBody>
          <a:bodyPr wrap="square"/>
          <a:lstStyle/>
          <a:p>
            <a:pPr algn="ctr">
              <a:spcBef>
                <a:spcPts val="0"/>
              </a:spcBef>
              <a:spcAft>
                <a:spcPts val="0"/>
              </a:spcAft>
              <a:defRPr sz="900" b="0" i="0">
                <a:solidFill>
                  <a:srgbClr val="6B635B"/>
                </a:solidFill>
                <a:latin typeface="Garamond"/>
              </a:defRPr>
            </a:pPr>
            <a:r>
              <a:t>Always show complete logo</a:t>
            </a:r>
          </a:p>
        </p:txBody>
      </p:sp>
      <p:pic>
        <p:nvPicPr>
          <p:cNvPr id="33" name="Picture 32" descr="A gold logo with a black background&#10;&#10;AI-generated content may be incorrect.">
            <a:extLst>
              <a:ext uri="{FF2B5EF4-FFF2-40B4-BE49-F238E27FC236}">
                <a16:creationId xmlns:a16="http://schemas.microsoft.com/office/drawing/2014/main" id="{ED982D4F-C27B-9815-02BA-52B84AC288BE}"/>
              </a:ext>
            </a:extLst>
          </p:cNvPr>
          <p:cNvPicPr>
            <a:picLocks noChangeAspect="1"/>
          </p:cNvPicPr>
          <p:nvPr/>
        </p:nvPicPr>
        <p:blipFill>
          <a:blip r:embed="rId2"/>
          <a:stretch>
            <a:fillRect/>
          </a:stretch>
        </p:blipFill>
        <p:spPr>
          <a:xfrm>
            <a:off x="5284999" y="1892845"/>
            <a:ext cx="1536155" cy="1536155"/>
          </a:xfrm>
          <a:prstGeom prst="rect">
            <a:avLst/>
          </a:prstGeom>
        </p:spPr>
      </p:pic>
      <p:pic>
        <p:nvPicPr>
          <p:cNvPr id="36" name="Picture 35" descr="A logo with a leaf in a circle&#10;&#10;AI-generated content may be incorrect.">
            <a:extLst>
              <a:ext uri="{FF2B5EF4-FFF2-40B4-BE49-F238E27FC236}">
                <a16:creationId xmlns:a16="http://schemas.microsoft.com/office/drawing/2014/main" id="{E82C583B-670F-16F2-C992-2DD1F0B99553}"/>
              </a:ext>
            </a:extLst>
          </p:cNvPr>
          <p:cNvPicPr>
            <a:picLocks noChangeAspect="1"/>
          </p:cNvPicPr>
          <p:nvPr/>
        </p:nvPicPr>
        <p:blipFill>
          <a:blip r:embed="rId3"/>
          <a:srcRect t="12151" b="14943"/>
          <a:stretch>
            <a:fillRect/>
          </a:stretch>
        </p:blipFill>
        <p:spPr>
          <a:xfrm>
            <a:off x="8877100" y="4267200"/>
            <a:ext cx="1905400" cy="1310640"/>
          </a:xfrm>
          <a:prstGeom prst="rect">
            <a:avLst/>
          </a:prstGeom>
        </p:spPr>
      </p:pic>
      <p:pic>
        <p:nvPicPr>
          <p:cNvPr id="37" name="Picture 36" descr="A logo with a leaf in a circle&#10;&#10;AI-generated content may be incorrect.">
            <a:extLst>
              <a:ext uri="{FF2B5EF4-FFF2-40B4-BE49-F238E27FC236}">
                <a16:creationId xmlns:a16="http://schemas.microsoft.com/office/drawing/2014/main" id="{9F76E621-47AF-FD7E-1292-7FD8EEF04BA8}"/>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8922820" y="1737962"/>
            <a:ext cx="1905400" cy="1797718"/>
          </a:xfrm>
          <a:prstGeom prst="rect">
            <a:avLst/>
          </a:prstGeom>
        </p:spPr>
      </p:pic>
      <p:pic>
        <p:nvPicPr>
          <p:cNvPr id="38" name="Picture 37" descr="A logo with a leaf in a circle&#10;&#10;AI-generated content may be incorrect.">
            <a:extLst>
              <a:ext uri="{FF2B5EF4-FFF2-40B4-BE49-F238E27FC236}">
                <a16:creationId xmlns:a16="http://schemas.microsoft.com/office/drawing/2014/main" id="{10B0B26D-4137-58DE-F23E-92566B824268}"/>
              </a:ext>
            </a:extLst>
          </p:cNvPr>
          <p:cNvPicPr>
            <a:picLocks noChangeAspect="1"/>
          </p:cNvPicPr>
          <p:nvPr/>
        </p:nvPicPr>
        <p:blipFill>
          <a:blip r:embed="rId6">
            <a:alphaModFix amt="85000"/>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5100376" y="4038901"/>
            <a:ext cx="1905400" cy="1797718"/>
          </a:xfrm>
          <a:prstGeom prst="rect">
            <a:avLst/>
          </a:prstGeom>
        </p:spPr>
      </p:pic>
      <p:pic>
        <p:nvPicPr>
          <p:cNvPr id="30" name="Picture 29" descr="A yellow and black logo&#10;&#10;AI-generated content may be incorrect.">
            <a:extLst>
              <a:ext uri="{FF2B5EF4-FFF2-40B4-BE49-F238E27FC236}">
                <a16:creationId xmlns:a16="http://schemas.microsoft.com/office/drawing/2014/main" id="{F7BD180A-9329-C130-0E06-0605622A7F9B}"/>
              </a:ext>
            </a:extLst>
          </p:cNvPr>
          <p:cNvPicPr>
            <a:picLocks noChangeAspect="1"/>
          </p:cNvPicPr>
          <p:nvPr/>
        </p:nvPicPr>
        <p:blipFill>
          <a:blip r:embed="rId7"/>
          <a:stretch>
            <a:fillRect/>
          </a:stretch>
        </p:blipFill>
        <p:spPr>
          <a:xfrm>
            <a:off x="1379018" y="1535757"/>
            <a:ext cx="2063114" cy="2167562"/>
          </a:xfrm>
          <a:prstGeom prst="rect">
            <a:avLst/>
          </a:prstGeom>
        </p:spPr>
      </p:pic>
      <p:pic>
        <p:nvPicPr>
          <p:cNvPr id="32" name="Picture 31" descr="A yellow and black logo&#10;&#10;AI-generated content may be incorrect.">
            <a:extLst>
              <a:ext uri="{FF2B5EF4-FFF2-40B4-BE49-F238E27FC236}">
                <a16:creationId xmlns:a16="http://schemas.microsoft.com/office/drawing/2014/main" id="{234F8B0F-0F4F-0ED6-4EB6-80C94B6A75B5}"/>
              </a:ext>
            </a:extLst>
          </p:cNvPr>
          <p:cNvPicPr>
            <a:picLocks noChangeAspect="1"/>
          </p:cNvPicPr>
          <p:nvPr/>
        </p:nvPicPr>
        <p:blipFill>
          <a:blip r:embed="rId7"/>
          <a:stretch>
            <a:fillRect/>
          </a:stretch>
        </p:blipFill>
        <p:spPr>
          <a:xfrm rot="10800000">
            <a:off x="1464746" y="3880977"/>
            <a:ext cx="1733947" cy="216756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3" name="TextBox 2"/>
          <p:cNvSpPr txBox="1"/>
          <p:nvPr/>
        </p:nvSpPr>
        <p:spPr>
          <a:xfrm>
            <a:off x="731520" y="457200"/>
            <a:ext cx="9144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03</a:t>
            </a:r>
          </a:p>
        </p:txBody>
      </p:sp>
      <p:sp>
        <p:nvSpPr>
          <p:cNvPr id="4" name="TextBox 3"/>
          <p:cNvSpPr txBox="1"/>
          <p:nvPr/>
        </p:nvSpPr>
        <p:spPr>
          <a:xfrm>
            <a:off x="731520" y="914400"/>
            <a:ext cx="4572000" cy="731520"/>
          </a:xfrm>
          <a:prstGeom prst="rect">
            <a:avLst/>
          </a:prstGeom>
          <a:noFill/>
        </p:spPr>
        <p:txBody>
          <a:bodyPr wrap="square"/>
          <a:lstStyle/>
          <a:p>
            <a:pPr algn="l">
              <a:spcBef>
                <a:spcPts val="0"/>
              </a:spcBef>
              <a:spcAft>
                <a:spcPts val="0"/>
              </a:spcAft>
              <a:defRPr sz="4200" b="0" i="0">
                <a:solidFill>
                  <a:srgbClr val="FFFFFF"/>
                </a:solidFill>
                <a:latin typeface="Didot"/>
              </a:defRPr>
            </a:pPr>
            <a:r>
              <a:t>Color Palette</a:t>
            </a:r>
          </a:p>
        </p:txBody>
      </p:sp>
      <p:sp>
        <p:nvSpPr>
          <p:cNvPr id="5" name="Rectangle 4"/>
          <p:cNvSpPr/>
          <p:nvPr/>
        </p:nvSpPr>
        <p:spPr>
          <a:xfrm>
            <a:off x="731520" y="1737360"/>
            <a:ext cx="2743200" cy="18288"/>
          </a:xfrm>
          <a:prstGeom prst="rect">
            <a:avLst/>
          </a:prstGeom>
          <a:solidFill>
            <a:srgbClr val="C6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03120"/>
            <a:ext cx="2743200" cy="365760"/>
          </a:xfrm>
          <a:prstGeom prst="rect">
            <a:avLst/>
          </a:prstGeom>
          <a:noFill/>
        </p:spPr>
        <p:txBody>
          <a:bodyPr wrap="square"/>
          <a:lstStyle/>
          <a:p>
            <a:pPr algn="l">
              <a:spcBef>
                <a:spcPts val="0"/>
              </a:spcBef>
              <a:spcAft>
                <a:spcPts val="0"/>
              </a:spcAft>
              <a:defRPr sz="1200" b="1" i="0">
                <a:solidFill>
                  <a:srgbClr val="C6922A"/>
                </a:solidFill>
                <a:latin typeface="Montserrat"/>
              </a:defRPr>
            </a:pPr>
            <a:r>
              <a:t>PRIMARY COLORS</a:t>
            </a:r>
          </a:p>
        </p:txBody>
      </p:sp>
      <p:sp>
        <p:nvSpPr>
          <p:cNvPr id="7" name="Rectangle 6"/>
          <p:cNvSpPr/>
          <p:nvPr/>
        </p:nvSpPr>
        <p:spPr>
          <a:xfrm>
            <a:off x="731520" y="2560320"/>
            <a:ext cx="2011680" cy="13716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023360"/>
            <a:ext cx="2011680" cy="274320"/>
          </a:xfrm>
          <a:prstGeom prst="rect">
            <a:avLst/>
          </a:prstGeom>
          <a:noFill/>
        </p:spPr>
        <p:txBody>
          <a:bodyPr wrap="square"/>
          <a:lstStyle/>
          <a:p>
            <a:pPr algn="l">
              <a:spcBef>
                <a:spcPts val="0"/>
              </a:spcBef>
              <a:spcAft>
                <a:spcPts val="0"/>
              </a:spcAft>
              <a:defRPr sz="1000" b="1" i="0">
                <a:solidFill>
                  <a:srgbClr val="FFFFFF"/>
                </a:solidFill>
                <a:latin typeface="Montserrat"/>
              </a:defRPr>
            </a:pPr>
            <a:r>
              <a:t>Rosebella Gold</a:t>
            </a:r>
          </a:p>
        </p:txBody>
      </p:sp>
      <p:sp>
        <p:nvSpPr>
          <p:cNvPr id="9" name="TextBox 8"/>
          <p:cNvSpPr txBox="1"/>
          <p:nvPr/>
        </p:nvSpPr>
        <p:spPr>
          <a:xfrm>
            <a:off x="731520" y="4297680"/>
            <a:ext cx="2011680" cy="274320"/>
          </a:xfrm>
          <a:prstGeom prst="rect">
            <a:avLst/>
          </a:prstGeom>
          <a:noFill/>
        </p:spPr>
        <p:txBody>
          <a:bodyPr wrap="square"/>
          <a:lstStyle/>
          <a:p>
            <a:pPr algn="l">
              <a:spcBef>
                <a:spcPts val="0"/>
              </a:spcBef>
              <a:spcAft>
                <a:spcPts val="0"/>
              </a:spcAft>
              <a:defRPr sz="900" b="0" i="0">
                <a:solidFill>
                  <a:srgbClr val="F5F0C2"/>
                </a:solidFill>
                <a:latin typeface="Montserrat"/>
              </a:defRPr>
            </a:pPr>
            <a:r>
              <a:t>#C6922A</a:t>
            </a:r>
          </a:p>
        </p:txBody>
      </p:sp>
      <p:sp>
        <p:nvSpPr>
          <p:cNvPr id="10" name="TextBox 9"/>
          <p:cNvSpPr txBox="1"/>
          <p:nvPr/>
        </p:nvSpPr>
        <p:spPr>
          <a:xfrm>
            <a:off x="731520" y="4572000"/>
            <a:ext cx="2011680" cy="274320"/>
          </a:xfrm>
          <a:prstGeom prst="rect">
            <a:avLst/>
          </a:prstGeom>
          <a:noFill/>
        </p:spPr>
        <p:txBody>
          <a:bodyPr wrap="square"/>
          <a:lstStyle/>
          <a:p>
            <a:pPr algn="l">
              <a:spcBef>
                <a:spcPts val="0"/>
              </a:spcBef>
              <a:spcAft>
                <a:spcPts val="0"/>
              </a:spcAft>
              <a:defRPr sz="800" b="0" i="0">
                <a:solidFill>
                  <a:srgbClr val="6B635B"/>
                </a:solidFill>
                <a:latin typeface="Montserrat"/>
              </a:defRPr>
            </a:pPr>
            <a:r>
              <a:t>C:22 M:38 Y:89 K:0</a:t>
            </a:r>
          </a:p>
        </p:txBody>
      </p:sp>
      <p:sp>
        <p:nvSpPr>
          <p:cNvPr id="11" name="Rectangle 10"/>
          <p:cNvSpPr/>
          <p:nvPr/>
        </p:nvSpPr>
        <p:spPr>
          <a:xfrm>
            <a:off x="3017520" y="2560320"/>
            <a:ext cx="2011680" cy="13716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17520" y="4023360"/>
            <a:ext cx="2011680" cy="274320"/>
          </a:xfrm>
          <a:prstGeom prst="rect">
            <a:avLst/>
          </a:prstGeom>
          <a:noFill/>
        </p:spPr>
        <p:txBody>
          <a:bodyPr wrap="square"/>
          <a:lstStyle/>
          <a:p>
            <a:pPr algn="l">
              <a:spcBef>
                <a:spcPts val="0"/>
              </a:spcBef>
              <a:spcAft>
                <a:spcPts val="0"/>
              </a:spcAft>
              <a:defRPr sz="1000" b="1" i="0">
                <a:solidFill>
                  <a:srgbClr val="FFFFFF"/>
                </a:solidFill>
                <a:latin typeface="Montserrat"/>
              </a:defRPr>
            </a:pPr>
            <a:r>
              <a:t>Rich Charcoal</a:t>
            </a:r>
          </a:p>
        </p:txBody>
      </p:sp>
      <p:sp>
        <p:nvSpPr>
          <p:cNvPr id="13" name="TextBox 12"/>
          <p:cNvSpPr txBox="1"/>
          <p:nvPr/>
        </p:nvSpPr>
        <p:spPr>
          <a:xfrm>
            <a:off x="3017520" y="4297680"/>
            <a:ext cx="2011680" cy="274320"/>
          </a:xfrm>
          <a:prstGeom prst="rect">
            <a:avLst/>
          </a:prstGeom>
          <a:noFill/>
        </p:spPr>
        <p:txBody>
          <a:bodyPr wrap="square"/>
          <a:lstStyle/>
          <a:p>
            <a:pPr algn="l">
              <a:spcBef>
                <a:spcPts val="0"/>
              </a:spcBef>
              <a:spcAft>
                <a:spcPts val="0"/>
              </a:spcAft>
              <a:defRPr sz="900" b="0" i="0">
                <a:solidFill>
                  <a:srgbClr val="F5F0C2"/>
                </a:solidFill>
                <a:latin typeface="Montserrat"/>
              </a:defRPr>
            </a:pPr>
            <a:r>
              <a:t>#2D2D2D</a:t>
            </a:r>
          </a:p>
        </p:txBody>
      </p:sp>
      <p:sp>
        <p:nvSpPr>
          <p:cNvPr id="14" name="TextBox 13"/>
          <p:cNvSpPr txBox="1"/>
          <p:nvPr/>
        </p:nvSpPr>
        <p:spPr>
          <a:xfrm>
            <a:off x="3017520" y="4572000"/>
            <a:ext cx="2011680" cy="274320"/>
          </a:xfrm>
          <a:prstGeom prst="rect">
            <a:avLst/>
          </a:prstGeom>
          <a:noFill/>
        </p:spPr>
        <p:txBody>
          <a:bodyPr wrap="square"/>
          <a:lstStyle/>
          <a:p>
            <a:pPr algn="l">
              <a:spcBef>
                <a:spcPts val="0"/>
              </a:spcBef>
              <a:spcAft>
                <a:spcPts val="0"/>
              </a:spcAft>
              <a:defRPr sz="800" b="0" i="0">
                <a:solidFill>
                  <a:srgbClr val="6B635B"/>
                </a:solidFill>
                <a:latin typeface="Montserrat"/>
              </a:defRPr>
            </a:pPr>
            <a:r>
              <a:t>C:70 M:65 Y:62 K:70</a:t>
            </a:r>
          </a:p>
        </p:txBody>
      </p:sp>
      <p:sp>
        <p:nvSpPr>
          <p:cNvPr id="15" name="Rectangle 14"/>
          <p:cNvSpPr/>
          <p:nvPr/>
        </p:nvSpPr>
        <p:spPr>
          <a:xfrm>
            <a:off x="5303520" y="2560320"/>
            <a:ext cx="2011680" cy="13716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03520" y="4023360"/>
            <a:ext cx="2011680" cy="274320"/>
          </a:xfrm>
          <a:prstGeom prst="rect">
            <a:avLst/>
          </a:prstGeom>
          <a:noFill/>
        </p:spPr>
        <p:txBody>
          <a:bodyPr wrap="square"/>
          <a:lstStyle/>
          <a:p>
            <a:pPr algn="l">
              <a:spcBef>
                <a:spcPts val="0"/>
              </a:spcBef>
              <a:spcAft>
                <a:spcPts val="0"/>
              </a:spcAft>
              <a:defRPr sz="1000" b="1" i="0">
                <a:solidFill>
                  <a:srgbClr val="FFFFFF"/>
                </a:solidFill>
                <a:latin typeface="Montserrat"/>
              </a:defRPr>
            </a:pPr>
            <a:r>
              <a:t>Ivory Cream</a:t>
            </a:r>
          </a:p>
        </p:txBody>
      </p:sp>
      <p:sp>
        <p:nvSpPr>
          <p:cNvPr id="17" name="TextBox 16"/>
          <p:cNvSpPr txBox="1"/>
          <p:nvPr/>
        </p:nvSpPr>
        <p:spPr>
          <a:xfrm>
            <a:off x="5303520" y="4297680"/>
            <a:ext cx="2011680" cy="274320"/>
          </a:xfrm>
          <a:prstGeom prst="rect">
            <a:avLst/>
          </a:prstGeom>
          <a:noFill/>
        </p:spPr>
        <p:txBody>
          <a:bodyPr wrap="square"/>
          <a:lstStyle/>
          <a:p>
            <a:pPr algn="l">
              <a:spcBef>
                <a:spcPts val="0"/>
              </a:spcBef>
              <a:spcAft>
                <a:spcPts val="0"/>
              </a:spcAft>
              <a:defRPr sz="900" b="0" i="0">
                <a:solidFill>
                  <a:srgbClr val="F5F0C2"/>
                </a:solidFill>
                <a:latin typeface="Montserrat"/>
              </a:defRPr>
            </a:pPr>
            <a:r>
              <a:t>#FAF8F0</a:t>
            </a:r>
          </a:p>
        </p:txBody>
      </p:sp>
      <p:sp>
        <p:nvSpPr>
          <p:cNvPr id="18" name="TextBox 17"/>
          <p:cNvSpPr txBox="1"/>
          <p:nvPr/>
        </p:nvSpPr>
        <p:spPr>
          <a:xfrm>
            <a:off x="5303520" y="4572000"/>
            <a:ext cx="2011680" cy="274320"/>
          </a:xfrm>
          <a:prstGeom prst="rect">
            <a:avLst/>
          </a:prstGeom>
          <a:noFill/>
        </p:spPr>
        <p:txBody>
          <a:bodyPr wrap="square"/>
          <a:lstStyle/>
          <a:p>
            <a:pPr algn="l">
              <a:spcBef>
                <a:spcPts val="0"/>
              </a:spcBef>
              <a:spcAft>
                <a:spcPts val="0"/>
              </a:spcAft>
              <a:defRPr sz="800" b="0" i="0">
                <a:solidFill>
                  <a:srgbClr val="6B635B"/>
                </a:solidFill>
                <a:latin typeface="Montserrat"/>
              </a:defRPr>
            </a:pPr>
            <a:r>
              <a:t>C:2 M:2 Y:5 K:0</a:t>
            </a:r>
          </a:p>
        </p:txBody>
      </p:sp>
      <p:sp>
        <p:nvSpPr>
          <p:cNvPr id="19" name="TextBox 18"/>
          <p:cNvSpPr txBox="1"/>
          <p:nvPr/>
        </p:nvSpPr>
        <p:spPr>
          <a:xfrm>
            <a:off x="731520" y="5029200"/>
            <a:ext cx="2743200" cy="365760"/>
          </a:xfrm>
          <a:prstGeom prst="rect">
            <a:avLst/>
          </a:prstGeom>
          <a:noFill/>
        </p:spPr>
        <p:txBody>
          <a:bodyPr wrap="square"/>
          <a:lstStyle/>
          <a:p>
            <a:pPr algn="l">
              <a:spcBef>
                <a:spcPts val="0"/>
              </a:spcBef>
              <a:spcAft>
                <a:spcPts val="0"/>
              </a:spcAft>
              <a:defRPr sz="1200" b="1" i="0">
                <a:solidFill>
                  <a:srgbClr val="C6922A"/>
                </a:solidFill>
                <a:latin typeface="Montserrat"/>
              </a:defRPr>
            </a:pPr>
            <a:r>
              <a:t>SECONDARY COLORS</a:t>
            </a:r>
          </a:p>
        </p:txBody>
      </p:sp>
      <p:sp>
        <p:nvSpPr>
          <p:cNvPr id="20" name="Oval 19"/>
          <p:cNvSpPr/>
          <p:nvPr/>
        </p:nvSpPr>
        <p:spPr>
          <a:xfrm>
            <a:off x="731520" y="5486400"/>
            <a:ext cx="731520" cy="731520"/>
          </a:xfrm>
          <a:prstGeom prst="ellipse">
            <a:avLst/>
          </a:prstGeom>
          <a:solidFill>
            <a:srgbClr val="E7C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6309360"/>
            <a:ext cx="1280160" cy="274320"/>
          </a:xfrm>
          <a:prstGeom prst="rect">
            <a:avLst/>
          </a:prstGeom>
          <a:noFill/>
        </p:spPr>
        <p:txBody>
          <a:bodyPr wrap="square"/>
          <a:lstStyle/>
          <a:p>
            <a:pPr algn="ctr">
              <a:spcBef>
                <a:spcPts val="0"/>
              </a:spcBef>
              <a:spcAft>
                <a:spcPts val="0"/>
              </a:spcAft>
              <a:defRPr sz="800" b="0" i="0">
                <a:solidFill>
                  <a:srgbClr val="F5F0C2"/>
                </a:solidFill>
                <a:latin typeface="Montserrat"/>
              </a:defRPr>
            </a:pPr>
            <a:r>
              <a:t>Champagne</a:t>
            </a:r>
          </a:p>
        </p:txBody>
      </p:sp>
      <p:sp>
        <p:nvSpPr>
          <p:cNvPr id="22" name="Oval 21"/>
          <p:cNvSpPr/>
          <p:nvPr/>
        </p:nvSpPr>
        <p:spPr>
          <a:xfrm>
            <a:off x="1920240" y="5486400"/>
            <a:ext cx="731520" cy="731520"/>
          </a:xfrm>
          <a:prstGeom prst="ellipse">
            <a:avLst/>
          </a:prstGeom>
          <a:solidFill>
            <a:srgbClr val="6B63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645920" y="6309360"/>
            <a:ext cx="1280160" cy="274320"/>
          </a:xfrm>
          <a:prstGeom prst="rect">
            <a:avLst/>
          </a:prstGeom>
          <a:noFill/>
        </p:spPr>
        <p:txBody>
          <a:bodyPr wrap="square"/>
          <a:lstStyle/>
          <a:p>
            <a:pPr algn="ctr">
              <a:spcBef>
                <a:spcPts val="0"/>
              </a:spcBef>
              <a:spcAft>
                <a:spcPts val="0"/>
              </a:spcAft>
              <a:defRPr sz="800" b="0" i="0">
                <a:solidFill>
                  <a:srgbClr val="F5F0C2"/>
                </a:solidFill>
                <a:latin typeface="Montserrat"/>
              </a:defRPr>
            </a:pPr>
            <a:r>
              <a:t>Warm Taupe</a:t>
            </a:r>
          </a:p>
        </p:txBody>
      </p:sp>
      <p:sp>
        <p:nvSpPr>
          <p:cNvPr id="24" name="Oval 23"/>
          <p:cNvSpPr/>
          <p:nvPr/>
        </p:nvSpPr>
        <p:spPr>
          <a:xfrm>
            <a:off x="3108960" y="5486400"/>
            <a:ext cx="731520" cy="731520"/>
          </a:xfrm>
          <a:prstGeom prst="ellipse">
            <a:avLst/>
          </a:prstGeom>
          <a:solidFill>
            <a:srgbClr val="715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34640" y="6309360"/>
            <a:ext cx="1280160" cy="274320"/>
          </a:xfrm>
          <a:prstGeom prst="rect">
            <a:avLst/>
          </a:prstGeom>
          <a:noFill/>
        </p:spPr>
        <p:txBody>
          <a:bodyPr wrap="square"/>
          <a:lstStyle/>
          <a:p>
            <a:pPr algn="ctr">
              <a:spcBef>
                <a:spcPts val="0"/>
              </a:spcBef>
              <a:spcAft>
                <a:spcPts val="0"/>
              </a:spcAft>
              <a:defRPr sz="800" b="0" i="0">
                <a:solidFill>
                  <a:srgbClr val="F5F0C2"/>
                </a:solidFill>
                <a:latin typeface="Montserrat"/>
              </a:defRPr>
            </a:pPr>
            <a:r>
              <a:t>Chocolate</a:t>
            </a:r>
          </a:p>
        </p:txBody>
      </p:sp>
      <p:sp>
        <p:nvSpPr>
          <p:cNvPr id="26" name="Oval 25"/>
          <p:cNvSpPr/>
          <p:nvPr/>
        </p:nvSpPr>
        <p:spPr>
          <a:xfrm>
            <a:off x="4297680" y="5486400"/>
            <a:ext cx="731520" cy="731520"/>
          </a:xfrm>
          <a:prstGeom prst="ellipse">
            <a:avLst/>
          </a:prstGeom>
          <a:solidFill>
            <a:srgbClr val="D1CC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023360" y="6309360"/>
            <a:ext cx="1280160" cy="274320"/>
          </a:xfrm>
          <a:prstGeom prst="rect">
            <a:avLst/>
          </a:prstGeom>
          <a:noFill/>
        </p:spPr>
        <p:txBody>
          <a:bodyPr wrap="square"/>
          <a:lstStyle/>
          <a:p>
            <a:pPr algn="ctr">
              <a:spcBef>
                <a:spcPts val="0"/>
              </a:spcBef>
              <a:spcAft>
                <a:spcPts val="0"/>
              </a:spcAft>
              <a:defRPr sz="800" b="0" i="0">
                <a:solidFill>
                  <a:srgbClr val="F5F0C2"/>
                </a:solidFill>
                <a:latin typeface="Montserrat"/>
              </a:defRPr>
            </a:pPr>
            <a:r>
              <a:t>Soft Sage</a:t>
            </a:r>
          </a:p>
        </p:txBody>
      </p:sp>
      <p:sp>
        <p:nvSpPr>
          <p:cNvPr id="28" name="Oval 27"/>
          <p:cNvSpPr/>
          <p:nvPr/>
        </p:nvSpPr>
        <p:spPr>
          <a:xfrm>
            <a:off x="5486400" y="5486400"/>
            <a:ext cx="731520" cy="7315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12080" y="6309360"/>
            <a:ext cx="1280160" cy="274320"/>
          </a:xfrm>
          <a:prstGeom prst="rect">
            <a:avLst/>
          </a:prstGeom>
          <a:noFill/>
        </p:spPr>
        <p:txBody>
          <a:bodyPr wrap="square"/>
          <a:lstStyle/>
          <a:p>
            <a:pPr algn="ctr">
              <a:spcBef>
                <a:spcPts val="0"/>
              </a:spcBef>
              <a:spcAft>
                <a:spcPts val="0"/>
              </a:spcAft>
              <a:defRPr sz="800" b="0" i="0">
                <a:solidFill>
                  <a:srgbClr val="F5F0C2"/>
                </a:solidFill>
                <a:latin typeface="Montserrat"/>
              </a:defRPr>
            </a:pPr>
            <a:r>
              <a:t>Pure White</a:t>
            </a:r>
          </a:p>
        </p:txBody>
      </p:sp>
      <p:sp>
        <p:nvSpPr>
          <p:cNvPr id="31" name="TextBox 30"/>
          <p:cNvSpPr txBox="1"/>
          <p:nvPr/>
        </p:nvSpPr>
        <p:spPr>
          <a:xfrm>
            <a:off x="8046720" y="2377440"/>
            <a:ext cx="3383280" cy="365760"/>
          </a:xfrm>
          <a:prstGeom prst="rect">
            <a:avLst/>
          </a:prstGeom>
          <a:noFill/>
        </p:spPr>
        <p:txBody>
          <a:bodyPr wrap="square"/>
          <a:lstStyle/>
          <a:p>
            <a:pPr algn="l">
              <a:spcBef>
                <a:spcPts val="0"/>
              </a:spcBef>
              <a:spcAft>
                <a:spcPts val="0"/>
              </a:spcAft>
              <a:defRPr sz="1200" b="1" i="0">
                <a:solidFill>
                  <a:srgbClr val="2D2D2D"/>
                </a:solidFill>
                <a:latin typeface="Montserrat"/>
              </a:defRPr>
            </a:pPr>
            <a:r>
              <a:rPr>
                <a:solidFill>
                  <a:schemeClr val="bg1"/>
                </a:solidFill>
              </a:rPr>
              <a:t>COLOR USAGE</a:t>
            </a:r>
          </a:p>
        </p:txBody>
      </p:sp>
      <p:sp>
        <p:nvSpPr>
          <p:cNvPr id="32" name="TextBox 31"/>
          <p:cNvSpPr txBox="1"/>
          <p:nvPr/>
        </p:nvSpPr>
        <p:spPr>
          <a:xfrm>
            <a:off x="8046720" y="2834640"/>
            <a:ext cx="3383280" cy="3200400"/>
          </a:xfrm>
          <a:prstGeom prst="rect">
            <a:avLst/>
          </a:prstGeom>
          <a:noFill/>
        </p:spPr>
        <p:txBody>
          <a:bodyPr wrap="square"/>
          <a:lstStyle/>
          <a:p>
            <a:pPr algn="l">
              <a:spcBef>
                <a:spcPts val="0"/>
              </a:spcBef>
              <a:spcAft>
                <a:spcPts val="0"/>
              </a:spcAft>
              <a:defRPr sz="1300" b="0" i="0">
                <a:solidFill>
                  <a:srgbClr val="2D2D2D"/>
                </a:solidFill>
                <a:latin typeface="Garamond"/>
              </a:defRPr>
            </a:pPr>
            <a:r>
              <a:rPr dirty="0">
                <a:solidFill>
                  <a:schemeClr val="bg1"/>
                </a:solidFill>
              </a:rPr>
              <a:t>Gold: Primary brand color, logos, accents, CTAs</a:t>
            </a:r>
            <a:br>
              <a:rPr dirty="0">
                <a:solidFill>
                  <a:schemeClr val="bg1"/>
                </a:solidFill>
              </a:rPr>
            </a:br>
            <a:br>
              <a:rPr dirty="0">
                <a:solidFill>
                  <a:schemeClr val="bg1"/>
                </a:solidFill>
              </a:rPr>
            </a:br>
            <a:r>
              <a:rPr dirty="0">
                <a:solidFill>
                  <a:schemeClr val="bg1"/>
                </a:solidFill>
              </a:rPr>
              <a:t>Charcoal: Body text, backgrounds, sophistication</a:t>
            </a:r>
            <a:br>
              <a:rPr dirty="0">
                <a:solidFill>
                  <a:schemeClr val="bg1"/>
                </a:solidFill>
              </a:rPr>
            </a:br>
            <a:br>
              <a:rPr dirty="0">
                <a:solidFill>
                  <a:schemeClr val="bg1"/>
                </a:solidFill>
              </a:rPr>
            </a:br>
            <a:r>
              <a:rPr dirty="0">
                <a:solidFill>
                  <a:schemeClr val="bg1"/>
                </a:solidFill>
              </a:rPr>
              <a:t>Ivory: Light backgrounds, clean spaces</a:t>
            </a:r>
            <a:br>
              <a:rPr dirty="0">
                <a:solidFill>
                  <a:schemeClr val="bg1"/>
                </a:solidFill>
              </a:rPr>
            </a:br>
            <a:br>
              <a:rPr dirty="0">
                <a:solidFill>
                  <a:schemeClr val="bg1"/>
                </a:solidFill>
              </a:rPr>
            </a:br>
            <a:r>
              <a:rPr dirty="0">
                <a:solidFill>
                  <a:schemeClr val="bg1"/>
                </a:solidFill>
              </a:rPr>
              <a:t>Secondary colors: Supporting elements, seasonal campaigns, variety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Move="1" noResize="1" noEditPoints="1" noAdjustHandles="1" noChangeArrowheads="1" noChangeShapeType="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4572000" cy="548640"/>
          </a:xfrm>
          <a:prstGeom prst="rect">
            <a:avLst/>
          </a:prstGeom>
          <a:noFill/>
        </p:spPr>
        <p:txBody>
          <a:bodyPr wrap="square"/>
          <a:lstStyle/>
          <a:p>
            <a:pPr algn="l">
              <a:spcBef>
                <a:spcPts val="0"/>
              </a:spcBef>
              <a:spcAft>
                <a:spcPts val="0"/>
              </a:spcAft>
              <a:defRPr sz="3200" b="0" i="0">
                <a:solidFill>
                  <a:srgbClr val="2D2D2D"/>
                </a:solidFill>
                <a:latin typeface="Didot"/>
              </a:defRPr>
            </a:pPr>
            <a:r>
              <a:t>Color Combinations</a:t>
            </a:r>
          </a:p>
        </p:txBody>
      </p:sp>
      <p:sp>
        <p:nvSpPr>
          <p:cNvPr id="4" name="Rectangle 3"/>
          <p:cNvSpPr/>
          <p:nvPr/>
        </p:nvSpPr>
        <p:spPr>
          <a:xfrm>
            <a:off x="731520" y="1005840"/>
            <a:ext cx="27432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3657600" cy="365760"/>
          </a:xfrm>
          <a:prstGeom prst="rect">
            <a:avLst/>
          </a:prstGeom>
          <a:noFill/>
        </p:spPr>
        <p:txBody>
          <a:bodyPr wrap="square"/>
          <a:lstStyle/>
          <a:p>
            <a:pPr algn="l">
              <a:spcBef>
                <a:spcPts val="0"/>
              </a:spcBef>
              <a:spcAft>
                <a:spcPts val="0"/>
              </a:spcAft>
              <a:defRPr sz="1100" b="1" i="0">
                <a:solidFill>
                  <a:srgbClr val="C6922A"/>
                </a:solidFill>
                <a:latin typeface="Montserrat"/>
              </a:defRPr>
            </a:pPr>
            <a:r>
              <a:t>APPROVED COMBINATIONS</a:t>
            </a:r>
          </a:p>
        </p:txBody>
      </p:sp>
      <p:sp>
        <p:nvSpPr>
          <p:cNvPr id="6" name="Rectangle 5"/>
          <p:cNvSpPr/>
          <p:nvPr/>
        </p:nvSpPr>
        <p:spPr>
          <a:xfrm>
            <a:off x="2512193" y="1737360"/>
            <a:ext cx="1453415" cy="13716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20920" y="1143000"/>
            <a:ext cx="5029200" cy="457200"/>
          </a:xfrm>
          <a:prstGeom prst="rect">
            <a:avLst/>
          </a:prstGeom>
          <a:noFill/>
        </p:spPr>
        <p:txBody>
          <a:bodyPr wrap="square"/>
          <a:lstStyle/>
          <a:p>
            <a:pPr algn="ctr">
              <a:spcBef>
                <a:spcPts val="0"/>
              </a:spcBef>
              <a:spcAft>
                <a:spcPts val="0"/>
              </a:spcAft>
              <a:defRPr sz="2400" b="0" i="0">
                <a:solidFill>
                  <a:srgbClr val="C6922A"/>
                </a:solidFill>
                <a:latin typeface="Didot"/>
              </a:defRPr>
            </a:pPr>
            <a:r>
              <a:rPr dirty="0"/>
              <a:t>ROSEBELLA</a:t>
            </a:r>
          </a:p>
        </p:txBody>
      </p:sp>
      <p:sp>
        <p:nvSpPr>
          <p:cNvPr id="8" name="TextBox 7"/>
          <p:cNvSpPr txBox="1"/>
          <p:nvPr/>
        </p:nvSpPr>
        <p:spPr>
          <a:xfrm>
            <a:off x="731520" y="3291840"/>
            <a:ext cx="5029200" cy="274320"/>
          </a:xfrm>
          <a:prstGeom prst="rect">
            <a:avLst/>
          </a:prstGeom>
          <a:noFill/>
        </p:spPr>
        <p:txBody>
          <a:bodyPr wrap="square"/>
          <a:lstStyle/>
          <a:p>
            <a:pPr algn="ctr">
              <a:spcBef>
                <a:spcPts val="0"/>
              </a:spcBef>
              <a:spcAft>
                <a:spcPts val="0"/>
              </a:spcAft>
              <a:defRPr sz="1000" b="0" i="0">
                <a:solidFill>
                  <a:srgbClr val="6B635B"/>
                </a:solidFill>
                <a:latin typeface="Garamond"/>
              </a:defRPr>
            </a:pPr>
            <a:r>
              <a:t>Gold on Charcoal — Primary combination</a:t>
            </a:r>
          </a:p>
        </p:txBody>
      </p:sp>
      <p:sp>
        <p:nvSpPr>
          <p:cNvPr id="9" name="Rectangle 8"/>
          <p:cNvSpPr/>
          <p:nvPr/>
        </p:nvSpPr>
        <p:spPr>
          <a:xfrm>
            <a:off x="8005812" y="1737360"/>
            <a:ext cx="1453415" cy="13716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3291840"/>
            <a:ext cx="5029200" cy="274320"/>
          </a:xfrm>
          <a:prstGeom prst="rect">
            <a:avLst/>
          </a:prstGeom>
          <a:noFill/>
        </p:spPr>
        <p:txBody>
          <a:bodyPr wrap="square"/>
          <a:lstStyle/>
          <a:p>
            <a:pPr algn="ctr">
              <a:spcBef>
                <a:spcPts val="0"/>
              </a:spcBef>
              <a:spcAft>
                <a:spcPts val="0"/>
              </a:spcAft>
              <a:defRPr sz="1000" b="0" i="0">
                <a:solidFill>
                  <a:srgbClr val="6B635B"/>
                </a:solidFill>
                <a:latin typeface="Garamond"/>
              </a:defRPr>
            </a:pPr>
            <a:r>
              <a:t>White on Gold — For impact</a:t>
            </a:r>
          </a:p>
        </p:txBody>
      </p:sp>
      <p:sp>
        <p:nvSpPr>
          <p:cNvPr id="12" name="Rectangle 11"/>
          <p:cNvSpPr/>
          <p:nvPr/>
        </p:nvSpPr>
        <p:spPr>
          <a:xfrm>
            <a:off x="2512192" y="3840480"/>
            <a:ext cx="1453415" cy="1371600"/>
          </a:xfrm>
          <a:prstGeom prst="rect">
            <a:avLst/>
          </a:prstGeom>
          <a:solidFill>
            <a:srgbClr val="FAF8F0"/>
          </a:solidFill>
          <a:ln>
            <a:solidFill>
              <a:srgbClr val="C69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5303520"/>
            <a:ext cx="5029200" cy="274320"/>
          </a:xfrm>
          <a:prstGeom prst="rect">
            <a:avLst/>
          </a:prstGeom>
          <a:noFill/>
        </p:spPr>
        <p:txBody>
          <a:bodyPr wrap="square"/>
          <a:lstStyle/>
          <a:p>
            <a:pPr algn="ctr">
              <a:spcBef>
                <a:spcPts val="0"/>
              </a:spcBef>
              <a:spcAft>
                <a:spcPts val="0"/>
              </a:spcAft>
              <a:defRPr sz="1000" b="0" i="0">
                <a:solidFill>
                  <a:srgbClr val="6B635B"/>
                </a:solidFill>
                <a:latin typeface="Garamond"/>
              </a:defRPr>
            </a:pPr>
            <a:r>
              <a:t>Charcoal on Ivory — Elegant &amp; readable</a:t>
            </a:r>
          </a:p>
        </p:txBody>
      </p:sp>
      <p:sp>
        <p:nvSpPr>
          <p:cNvPr id="15" name="Rectangle 14"/>
          <p:cNvSpPr/>
          <p:nvPr/>
        </p:nvSpPr>
        <p:spPr>
          <a:xfrm>
            <a:off x="8005812" y="3840480"/>
            <a:ext cx="1453415" cy="1371600"/>
          </a:xfrm>
          <a:prstGeom prst="rect">
            <a:avLst/>
          </a:prstGeom>
          <a:solidFill>
            <a:srgbClr val="715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5303520"/>
            <a:ext cx="5029200" cy="274320"/>
          </a:xfrm>
          <a:prstGeom prst="rect">
            <a:avLst/>
          </a:prstGeom>
          <a:noFill/>
        </p:spPr>
        <p:txBody>
          <a:bodyPr wrap="square"/>
          <a:lstStyle/>
          <a:p>
            <a:pPr algn="ctr">
              <a:spcBef>
                <a:spcPts val="0"/>
              </a:spcBef>
              <a:spcAft>
                <a:spcPts val="0"/>
              </a:spcAft>
              <a:defRPr sz="1000" b="0" i="0">
                <a:solidFill>
                  <a:srgbClr val="6B635B"/>
                </a:solidFill>
                <a:latin typeface="Garamond"/>
              </a:defRPr>
            </a:pPr>
            <a:r>
              <a:t>Cream on Chocolate — Warm &amp; luxurious</a:t>
            </a:r>
          </a:p>
        </p:txBody>
      </p:sp>
      <p:sp>
        <p:nvSpPr>
          <p:cNvPr id="18" name="TextBox 17"/>
          <p:cNvSpPr txBox="1"/>
          <p:nvPr/>
        </p:nvSpPr>
        <p:spPr>
          <a:xfrm>
            <a:off x="731520" y="5760720"/>
            <a:ext cx="10515600" cy="731520"/>
          </a:xfrm>
          <a:prstGeom prst="rect">
            <a:avLst/>
          </a:prstGeom>
          <a:noFill/>
        </p:spPr>
        <p:txBody>
          <a:bodyPr wrap="square"/>
          <a:lstStyle/>
          <a:p>
            <a:pPr algn="l">
              <a:spcBef>
                <a:spcPts val="0"/>
              </a:spcBef>
              <a:spcAft>
                <a:spcPts val="0"/>
              </a:spcAft>
              <a:defRPr sz="1100" b="0" i="1">
                <a:solidFill>
                  <a:srgbClr val="6B635B"/>
                </a:solidFill>
                <a:latin typeface="Garamond"/>
              </a:defRPr>
            </a:pPr>
            <a:r>
              <a:t>Always ensure sufficient contrast between text and background for legibility. The gold color should be used strategically as an accent, not as a dominant background color for text-heavy layouts.</a:t>
            </a:r>
          </a:p>
        </p:txBody>
      </p:sp>
      <p:sp>
        <p:nvSpPr>
          <p:cNvPr id="22" name="Oval 21">
            <a:extLst>
              <a:ext uri="{FF2B5EF4-FFF2-40B4-BE49-F238E27FC236}">
                <a16:creationId xmlns:a16="http://schemas.microsoft.com/office/drawing/2014/main" id="{3D69810F-6BAF-3CD0-854C-B8107FF94B3D}"/>
              </a:ext>
            </a:extLst>
          </p:cNvPr>
          <p:cNvSpPr/>
          <p:nvPr/>
        </p:nvSpPr>
        <p:spPr>
          <a:xfrm>
            <a:off x="2781701" y="1938528"/>
            <a:ext cx="914400" cy="914400"/>
          </a:xfrm>
          <a:prstGeom prst="ellipse">
            <a:avLst/>
          </a:prstGeom>
          <a:solidFill>
            <a:srgbClr val="C6922A"/>
          </a:solidFill>
          <a:ln>
            <a:solidFill>
              <a:srgbClr val="C692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02A4FA6-5B9B-136A-1BEA-F12D2255AEE8}"/>
              </a:ext>
            </a:extLst>
          </p:cNvPr>
          <p:cNvSpPr/>
          <p:nvPr/>
        </p:nvSpPr>
        <p:spPr>
          <a:xfrm>
            <a:off x="8275319" y="1938528"/>
            <a:ext cx="914400" cy="914400"/>
          </a:xfrm>
          <a:prstGeom prst="ellipse">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C8A59DC-FF63-BF1D-83F7-9FCED7BDB0FC}"/>
              </a:ext>
            </a:extLst>
          </p:cNvPr>
          <p:cNvSpPr/>
          <p:nvPr/>
        </p:nvSpPr>
        <p:spPr>
          <a:xfrm>
            <a:off x="2781699" y="4069080"/>
            <a:ext cx="914400" cy="914400"/>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E8060067-74F4-49DC-2C3A-43B5CE1E1A98}"/>
              </a:ext>
            </a:extLst>
          </p:cNvPr>
          <p:cNvSpPr/>
          <p:nvPr/>
        </p:nvSpPr>
        <p:spPr>
          <a:xfrm>
            <a:off x="8275319" y="4069080"/>
            <a:ext cx="914400" cy="914400"/>
          </a:xfrm>
          <a:prstGeom prst="ellipse">
            <a:avLst/>
          </a:prstGeom>
          <a:solidFill>
            <a:srgbClr val="F5F0C2"/>
          </a:solidFill>
          <a:ln>
            <a:solidFill>
              <a:srgbClr val="F5F0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04</a:t>
            </a:r>
          </a:p>
        </p:txBody>
      </p:sp>
      <p:sp>
        <p:nvSpPr>
          <p:cNvPr id="5" name="TextBox 4"/>
          <p:cNvSpPr txBox="1"/>
          <p:nvPr/>
        </p:nvSpPr>
        <p:spPr>
          <a:xfrm>
            <a:off x="731520" y="914400"/>
            <a:ext cx="4572000" cy="731520"/>
          </a:xfrm>
          <a:prstGeom prst="rect">
            <a:avLst/>
          </a:prstGeom>
          <a:noFill/>
        </p:spPr>
        <p:txBody>
          <a:bodyPr wrap="square"/>
          <a:lstStyle/>
          <a:p>
            <a:pPr algn="l">
              <a:spcBef>
                <a:spcPts val="0"/>
              </a:spcBef>
              <a:spcAft>
                <a:spcPts val="0"/>
              </a:spcAft>
              <a:defRPr sz="4200" b="0" i="0">
                <a:solidFill>
                  <a:srgbClr val="2D2D2D"/>
                </a:solidFill>
                <a:latin typeface="Didot"/>
              </a:defRPr>
            </a:pPr>
            <a:r>
              <a:t>Typography</a:t>
            </a:r>
          </a:p>
        </p:txBody>
      </p:sp>
      <p:sp>
        <p:nvSpPr>
          <p:cNvPr id="6" name="Rectangle 5"/>
          <p:cNvSpPr/>
          <p:nvPr/>
        </p:nvSpPr>
        <p:spPr>
          <a:xfrm>
            <a:off x="731520" y="1737360"/>
            <a:ext cx="2743200" cy="18288"/>
          </a:xfrm>
          <a:prstGeom prst="rect">
            <a:avLst/>
          </a:prstGeom>
          <a:solidFill>
            <a:srgbClr val="C6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03120"/>
            <a:ext cx="5029200" cy="365760"/>
          </a:xfrm>
          <a:prstGeom prst="rect">
            <a:avLst/>
          </a:prstGeom>
          <a:noFill/>
        </p:spPr>
        <p:txBody>
          <a:bodyPr wrap="square"/>
          <a:lstStyle/>
          <a:p>
            <a:pPr algn="l">
              <a:spcBef>
                <a:spcPts val="0"/>
              </a:spcBef>
              <a:spcAft>
                <a:spcPts val="0"/>
              </a:spcAft>
              <a:defRPr sz="1100" b="1" i="0">
                <a:solidFill>
                  <a:srgbClr val="C6922A"/>
                </a:solidFill>
                <a:latin typeface="Montserrat"/>
              </a:defRPr>
            </a:pPr>
            <a:r>
              <a:t>PRIMARY TYPEFACE</a:t>
            </a:r>
          </a:p>
        </p:txBody>
      </p:sp>
      <p:sp>
        <p:nvSpPr>
          <p:cNvPr id="13" name="TextBox 12"/>
          <p:cNvSpPr txBox="1"/>
          <p:nvPr/>
        </p:nvSpPr>
        <p:spPr>
          <a:xfrm>
            <a:off x="6400800" y="2103120"/>
            <a:ext cx="5029200" cy="365760"/>
          </a:xfrm>
          <a:prstGeom prst="rect">
            <a:avLst/>
          </a:prstGeom>
          <a:noFill/>
        </p:spPr>
        <p:txBody>
          <a:bodyPr wrap="square"/>
          <a:lstStyle/>
          <a:p>
            <a:pPr algn="l">
              <a:spcBef>
                <a:spcPts val="0"/>
              </a:spcBef>
              <a:spcAft>
                <a:spcPts val="0"/>
              </a:spcAft>
              <a:defRPr sz="1100" b="1" i="0">
                <a:solidFill>
                  <a:srgbClr val="C6922A"/>
                </a:solidFill>
                <a:latin typeface="Montserrat"/>
              </a:defRPr>
            </a:pPr>
            <a:r>
              <a:t>SECONDARY TYPEFACE</a:t>
            </a:r>
          </a:p>
        </p:txBody>
      </p:sp>
      <p:sp>
        <p:nvSpPr>
          <p:cNvPr id="14" name="TextBox 13"/>
          <p:cNvSpPr txBox="1"/>
          <p:nvPr/>
        </p:nvSpPr>
        <p:spPr>
          <a:xfrm>
            <a:off x="6400800" y="2468880"/>
            <a:ext cx="5029200" cy="731520"/>
          </a:xfrm>
          <a:prstGeom prst="rect">
            <a:avLst/>
          </a:prstGeom>
          <a:noFill/>
        </p:spPr>
        <p:txBody>
          <a:bodyPr wrap="square"/>
          <a:lstStyle/>
          <a:p>
            <a:pPr algn="l">
              <a:spcBef>
                <a:spcPts val="0"/>
              </a:spcBef>
              <a:spcAft>
                <a:spcPts val="0"/>
              </a:spcAft>
              <a:defRPr sz="3600" b="0" i="0">
                <a:solidFill>
                  <a:srgbClr val="2D2D2D"/>
                </a:solidFill>
                <a:latin typeface="Montserrat"/>
              </a:defRPr>
            </a:pPr>
            <a:r>
              <a:rPr dirty="0"/>
              <a:t>Montserrat</a:t>
            </a:r>
          </a:p>
        </p:txBody>
      </p:sp>
      <p:sp>
        <p:nvSpPr>
          <p:cNvPr id="15" name="TextBox 14"/>
          <p:cNvSpPr txBox="1"/>
          <p:nvPr/>
        </p:nvSpPr>
        <p:spPr>
          <a:xfrm>
            <a:off x="6400800" y="3108960"/>
            <a:ext cx="5029200" cy="457200"/>
          </a:xfrm>
          <a:prstGeom prst="rect">
            <a:avLst/>
          </a:prstGeom>
          <a:noFill/>
        </p:spPr>
        <p:txBody>
          <a:bodyPr wrap="square"/>
          <a:lstStyle/>
          <a:p>
            <a:pPr algn="l">
              <a:spcBef>
                <a:spcPts val="0"/>
              </a:spcBef>
              <a:spcAft>
                <a:spcPts val="0"/>
              </a:spcAft>
              <a:defRPr sz="1200" b="0" i="0">
                <a:solidFill>
                  <a:srgbClr val="2D2D2D"/>
                </a:solidFill>
                <a:latin typeface="Montserrat"/>
              </a:defRPr>
            </a:pPr>
            <a:r>
              <a:t>ABCDEFGHIJKLMNOPQRSTUVWXYZ</a:t>
            </a:r>
          </a:p>
        </p:txBody>
      </p:sp>
      <p:sp>
        <p:nvSpPr>
          <p:cNvPr id="16" name="TextBox 15"/>
          <p:cNvSpPr txBox="1"/>
          <p:nvPr/>
        </p:nvSpPr>
        <p:spPr>
          <a:xfrm>
            <a:off x="6400800" y="3474720"/>
            <a:ext cx="5029200" cy="457200"/>
          </a:xfrm>
          <a:prstGeom prst="rect">
            <a:avLst/>
          </a:prstGeom>
          <a:noFill/>
        </p:spPr>
        <p:txBody>
          <a:bodyPr wrap="square"/>
          <a:lstStyle/>
          <a:p>
            <a:pPr algn="l">
              <a:spcBef>
                <a:spcPts val="0"/>
              </a:spcBef>
              <a:spcAft>
                <a:spcPts val="0"/>
              </a:spcAft>
              <a:defRPr sz="1200" b="0" i="0">
                <a:solidFill>
                  <a:srgbClr val="2D2D2D"/>
                </a:solidFill>
                <a:latin typeface="Montserrat"/>
              </a:defRPr>
            </a:pPr>
            <a:r>
              <a:t>abcdefghijklmnopqrstuvwxyz</a:t>
            </a:r>
          </a:p>
        </p:txBody>
      </p:sp>
      <p:sp>
        <p:nvSpPr>
          <p:cNvPr id="17" name="TextBox 16"/>
          <p:cNvSpPr txBox="1"/>
          <p:nvPr/>
        </p:nvSpPr>
        <p:spPr>
          <a:xfrm>
            <a:off x="6400800" y="3840480"/>
            <a:ext cx="5029200" cy="457200"/>
          </a:xfrm>
          <a:prstGeom prst="rect">
            <a:avLst/>
          </a:prstGeom>
          <a:noFill/>
        </p:spPr>
        <p:txBody>
          <a:bodyPr wrap="square"/>
          <a:lstStyle/>
          <a:p>
            <a:pPr algn="l">
              <a:spcBef>
                <a:spcPts val="0"/>
              </a:spcBef>
              <a:spcAft>
                <a:spcPts val="0"/>
              </a:spcAft>
              <a:defRPr sz="1200" b="0" i="0">
                <a:solidFill>
                  <a:srgbClr val="2D2D2D"/>
                </a:solidFill>
                <a:latin typeface="Montserrat"/>
              </a:defRPr>
            </a:pPr>
            <a:r>
              <a:t>1234567890 !@#$%&amp;*()</a:t>
            </a:r>
          </a:p>
        </p:txBody>
      </p:sp>
      <p:sp>
        <p:nvSpPr>
          <p:cNvPr id="18" name="TextBox 17"/>
          <p:cNvSpPr txBox="1"/>
          <p:nvPr/>
        </p:nvSpPr>
        <p:spPr>
          <a:xfrm>
            <a:off x="6400800" y="4297680"/>
            <a:ext cx="5029200" cy="548640"/>
          </a:xfrm>
          <a:prstGeom prst="rect">
            <a:avLst/>
          </a:prstGeom>
          <a:noFill/>
        </p:spPr>
        <p:txBody>
          <a:bodyPr wrap="square"/>
          <a:lstStyle/>
          <a:p>
            <a:pPr algn="l">
              <a:spcBef>
                <a:spcPts val="0"/>
              </a:spcBef>
              <a:spcAft>
                <a:spcPts val="0"/>
              </a:spcAft>
              <a:defRPr sz="1100" b="0" i="1">
                <a:solidFill>
                  <a:srgbClr val="6B635B"/>
                </a:solidFill>
                <a:latin typeface="Garamond"/>
              </a:defRPr>
            </a:pPr>
            <a:r>
              <a:t>Use for: Subheadings, captions, UI elements, labels</a:t>
            </a:r>
          </a:p>
        </p:txBody>
      </p:sp>
      <p:sp>
        <p:nvSpPr>
          <p:cNvPr id="20" name="TextBox 19"/>
          <p:cNvSpPr txBox="1"/>
          <p:nvPr/>
        </p:nvSpPr>
        <p:spPr>
          <a:xfrm>
            <a:off x="777240" y="2468880"/>
            <a:ext cx="5029200" cy="548640"/>
          </a:xfrm>
          <a:prstGeom prst="rect">
            <a:avLst/>
          </a:prstGeom>
          <a:noFill/>
        </p:spPr>
        <p:txBody>
          <a:bodyPr wrap="square"/>
          <a:lstStyle/>
          <a:p>
            <a:pPr algn="l">
              <a:spcBef>
                <a:spcPts val="0"/>
              </a:spcBef>
              <a:spcAft>
                <a:spcPts val="0"/>
              </a:spcAft>
              <a:defRPr sz="3200" b="0" i="0">
                <a:solidFill>
                  <a:srgbClr val="2D2D2D"/>
                </a:solidFill>
                <a:latin typeface="Garamond"/>
              </a:defRPr>
            </a:pPr>
            <a:r>
              <a:rPr dirty="0"/>
              <a:t>Garamond</a:t>
            </a:r>
          </a:p>
        </p:txBody>
      </p:sp>
      <p:sp>
        <p:nvSpPr>
          <p:cNvPr id="21" name="TextBox 20"/>
          <p:cNvSpPr txBox="1"/>
          <p:nvPr/>
        </p:nvSpPr>
        <p:spPr>
          <a:xfrm>
            <a:off x="777240" y="3017520"/>
            <a:ext cx="5029200" cy="548640"/>
          </a:xfrm>
          <a:prstGeom prst="rect">
            <a:avLst/>
          </a:prstGeom>
          <a:noFill/>
        </p:spPr>
        <p:txBody>
          <a:bodyPr wrap="square"/>
          <a:lstStyle/>
          <a:p>
            <a:pPr algn="l">
              <a:spcBef>
                <a:spcPts val="0"/>
              </a:spcBef>
              <a:spcAft>
                <a:spcPts val="0"/>
              </a:spcAft>
              <a:defRPr sz="1100" b="0" i="1">
                <a:solidFill>
                  <a:srgbClr val="6B635B"/>
                </a:solidFill>
                <a:latin typeface="Garamond"/>
              </a:defRPr>
            </a:pPr>
            <a:r>
              <a:rPr dirty="0"/>
              <a:t>Use for: Body text, paragraphs, descriptions, long-form content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4572000" cy="548640"/>
          </a:xfrm>
          <a:prstGeom prst="rect">
            <a:avLst/>
          </a:prstGeom>
          <a:noFill/>
        </p:spPr>
        <p:txBody>
          <a:bodyPr wrap="square"/>
          <a:lstStyle/>
          <a:p>
            <a:pPr algn="l">
              <a:spcBef>
                <a:spcPts val="0"/>
              </a:spcBef>
              <a:spcAft>
                <a:spcPts val="0"/>
              </a:spcAft>
              <a:defRPr sz="3200" b="0" i="0">
                <a:solidFill>
                  <a:srgbClr val="FFFFFF"/>
                </a:solidFill>
                <a:latin typeface="Didot"/>
              </a:defRPr>
            </a:pPr>
            <a:r>
              <a:t>Type Hierarchy</a:t>
            </a:r>
          </a:p>
        </p:txBody>
      </p:sp>
      <p:sp>
        <p:nvSpPr>
          <p:cNvPr id="4" name="Rectangle 3"/>
          <p:cNvSpPr/>
          <p:nvPr/>
        </p:nvSpPr>
        <p:spPr>
          <a:xfrm>
            <a:off x="731520" y="1005840"/>
            <a:ext cx="18288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5029200" cy="365760"/>
          </a:xfrm>
          <a:prstGeom prst="rect">
            <a:avLst/>
          </a:prstGeom>
          <a:noFill/>
        </p:spPr>
        <p:txBody>
          <a:bodyPr wrap="square"/>
          <a:lstStyle/>
          <a:p>
            <a:pPr>
              <a:defRPr sz="1000" b="0" i="0">
                <a:solidFill>
                  <a:srgbClr val="C6922A"/>
                </a:solidFill>
                <a:latin typeface="Montserrat"/>
              </a:defRPr>
            </a:pPr>
            <a:r>
              <a:rPr dirty="0"/>
              <a:t>H1 / 48pt / </a:t>
            </a:r>
            <a:r>
              <a:rPr lang="en-US" dirty="0"/>
              <a:t>Garamond</a:t>
            </a:r>
            <a:endParaRPr dirty="0"/>
          </a:p>
        </p:txBody>
      </p:sp>
      <p:sp>
        <p:nvSpPr>
          <p:cNvPr id="6" name="TextBox 5"/>
          <p:cNvSpPr txBox="1"/>
          <p:nvPr/>
        </p:nvSpPr>
        <p:spPr>
          <a:xfrm>
            <a:off x="731520" y="1828800"/>
            <a:ext cx="5029200" cy="640080"/>
          </a:xfrm>
          <a:prstGeom prst="rect">
            <a:avLst/>
          </a:prstGeom>
          <a:noFill/>
        </p:spPr>
        <p:txBody>
          <a:bodyPr wrap="square"/>
          <a:lstStyle/>
          <a:p>
            <a:pPr algn="l">
              <a:spcBef>
                <a:spcPts val="0"/>
              </a:spcBef>
              <a:spcAft>
                <a:spcPts val="0"/>
              </a:spcAft>
              <a:defRPr sz="4800" b="0" i="0">
                <a:solidFill>
                  <a:srgbClr val="FFFFFF"/>
                </a:solidFill>
                <a:latin typeface="Didot"/>
              </a:defRPr>
            </a:pPr>
            <a:r>
              <a:rPr dirty="0">
                <a:latin typeface="Garamond" panose="02020404030301010803" pitchFamily="18" charset="0"/>
              </a:rPr>
              <a:t>Elegant Moments</a:t>
            </a:r>
          </a:p>
        </p:txBody>
      </p:sp>
      <p:sp>
        <p:nvSpPr>
          <p:cNvPr id="7" name="TextBox 6"/>
          <p:cNvSpPr txBox="1"/>
          <p:nvPr/>
        </p:nvSpPr>
        <p:spPr>
          <a:xfrm>
            <a:off x="731520" y="2560320"/>
            <a:ext cx="5029200" cy="365760"/>
          </a:xfrm>
          <a:prstGeom prst="rect">
            <a:avLst/>
          </a:prstGeom>
          <a:noFill/>
        </p:spPr>
        <p:txBody>
          <a:bodyPr wrap="square"/>
          <a:lstStyle/>
          <a:p>
            <a:pPr>
              <a:defRPr sz="1000" b="0" i="0">
                <a:solidFill>
                  <a:srgbClr val="C6922A"/>
                </a:solidFill>
                <a:latin typeface="Montserrat"/>
              </a:defRPr>
            </a:pPr>
            <a:r>
              <a:rPr dirty="0"/>
              <a:t>H2 / 32pt / </a:t>
            </a:r>
            <a:r>
              <a:rPr lang="en-US" dirty="0"/>
              <a:t>Garamond</a:t>
            </a:r>
            <a:endParaRPr dirty="0"/>
          </a:p>
        </p:txBody>
      </p:sp>
      <p:sp>
        <p:nvSpPr>
          <p:cNvPr id="8" name="TextBox 7"/>
          <p:cNvSpPr txBox="1"/>
          <p:nvPr/>
        </p:nvSpPr>
        <p:spPr>
          <a:xfrm>
            <a:off x="731520" y="2926080"/>
            <a:ext cx="5029200" cy="548640"/>
          </a:xfrm>
          <a:prstGeom prst="rect">
            <a:avLst/>
          </a:prstGeom>
          <a:noFill/>
        </p:spPr>
        <p:txBody>
          <a:bodyPr wrap="square"/>
          <a:lstStyle/>
          <a:p>
            <a:pPr algn="l">
              <a:spcBef>
                <a:spcPts val="0"/>
              </a:spcBef>
              <a:spcAft>
                <a:spcPts val="0"/>
              </a:spcAft>
              <a:defRPr sz="3200" b="0" i="0">
                <a:solidFill>
                  <a:srgbClr val="FFFFFF"/>
                </a:solidFill>
                <a:latin typeface="Didot"/>
              </a:defRPr>
            </a:pPr>
            <a:r>
              <a:rPr dirty="0">
                <a:latin typeface="Garamond" panose="02020404030301010803" pitchFamily="18" charset="0"/>
              </a:rPr>
              <a:t>Curated Collections</a:t>
            </a:r>
          </a:p>
        </p:txBody>
      </p:sp>
      <p:sp>
        <p:nvSpPr>
          <p:cNvPr id="9" name="TextBox 8"/>
          <p:cNvSpPr txBox="1"/>
          <p:nvPr/>
        </p:nvSpPr>
        <p:spPr>
          <a:xfrm>
            <a:off x="731520" y="3566160"/>
            <a:ext cx="5029200" cy="365760"/>
          </a:xfrm>
          <a:prstGeom prst="rect">
            <a:avLst/>
          </a:prstGeom>
          <a:noFill/>
        </p:spPr>
        <p:txBody>
          <a:bodyPr wrap="square"/>
          <a:lstStyle/>
          <a:p>
            <a:pPr algn="l">
              <a:spcBef>
                <a:spcPts val="0"/>
              </a:spcBef>
              <a:spcAft>
                <a:spcPts val="0"/>
              </a:spcAft>
              <a:defRPr sz="1000" b="0" i="0">
                <a:solidFill>
                  <a:srgbClr val="C6922A"/>
                </a:solidFill>
                <a:latin typeface="Montserrat"/>
              </a:defRPr>
            </a:pPr>
            <a:r>
              <a:rPr dirty="0"/>
              <a:t>H3 / 24pt / Montserrat</a:t>
            </a:r>
          </a:p>
        </p:txBody>
      </p:sp>
      <p:sp>
        <p:nvSpPr>
          <p:cNvPr id="10" name="TextBox 9"/>
          <p:cNvSpPr txBox="1"/>
          <p:nvPr/>
        </p:nvSpPr>
        <p:spPr>
          <a:xfrm>
            <a:off x="731520" y="3931920"/>
            <a:ext cx="5029200" cy="457200"/>
          </a:xfrm>
          <a:prstGeom prst="rect">
            <a:avLst/>
          </a:prstGeom>
          <a:noFill/>
        </p:spPr>
        <p:txBody>
          <a:bodyPr wrap="square"/>
          <a:lstStyle/>
          <a:p>
            <a:pPr algn="l">
              <a:spcBef>
                <a:spcPts val="0"/>
              </a:spcBef>
              <a:spcAft>
                <a:spcPts val="0"/>
              </a:spcAft>
              <a:defRPr sz="2400" b="0" i="0">
                <a:solidFill>
                  <a:srgbClr val="FFFFFF"/>
                </a:solidFill>
                <a:latin typeface="Montserrat"/>
              </a:defRPr>
            </a:pPr>
            <a:r>
              <a:rPr dirty="0"/>
              <a:t>PREMIUM FLOWERS</a:t>
            </a:r>
          </a:p>
        </p:txBody>
      </p:sp>
      <p:sp>
        <p:nvSpPr>
          <p:cNvPr id="11" name="TextBox 10"/>
          <p:cNvSpPr txBox="1"/>
          <p:nvPr/>
        </p:nvSpPr>
        <p:spPr>
          <a:xfrm>
            <a:off x="731520" y="4572000"/>
            <a:ext cx="5029200" cy="365760"/>
          </a:xfrm>
          <a:prstGeom prst="rect">
            <a:avLst/>
          </a:prstGeom>
          <a:noFill/>
        </p:spPr>
        <p:txBody>
          <a:bodyPr wrap="square"/>
          <a:lstStyle/>
          <a:p>
            <a:pPr algn="l">
              <a:spcBef>
                <a:spcPts val="0"/>
              </a:spcBef>
              <a:spcAft>
                <a:spcPts val="0"/>
              </a:spcAft>
              <a:defRPr sz="1000" b="0" i="0">
                <a:solidFill>
                  <a:srgbClr val="C6922A"/>
                </a:solidFill>
                <a:latin typeface="Montserrat"/>
              </a:defRPr>
            </a:pPr>
            <a:r>
              <a:t>Body / 14pt / Garamond</a:t>
            </a:r>
          </a:p>
        </p:txBody>
      </p:sp>
      <p:sp>
        <p:nvSpPr>
          <p:cNvPr id="12" name="TextBox 11"/>
          <p:cNvSpPr txBox="1"/>
          <p:nvPr/>
        </p:nvSpPr>
        <p:spPr>
          <a:xfrm>
            <a:off x="731520" y="4937760"/>
            <a:ext cx="5029200" cy="914400"/>
          </a:xfrm>
          <a:prstGeom prst="rect">
            <a:avLst/>
          </a:prstGeom>
          <a:noFill/>
        </p:spPr>
        <p:txBody>
          <a:bodyPr wrap="square"/>
          <a:lstStyle/>
          <a:p>
            <a:pPr algn="l">
              <a:spcBef>
                <a:spcPts val="0"/>
              </a:spcBef>
              <a:spcAft>
                <a:spcPts val="0"/>
              </a:spcAft>
              <a:defRPr sz="1400" b="0" i="0">
                <a:solidFill>
                  <a:srgbClr val="F5F0C2"/>
                </a:solidFill>
                <a:latin typeface="Garamond"/>
              </a:defRPr>
            </a:pPr>
            <a:r>
              <a:rPr dirty="0"/>
              <a:t>Each arrangement is crafted with the finest blooms, designed to convey your sentiments beautifully.</a:t>
            </a:r>
          </a:p>
        </p:txBody>
      </p:sp>
      <p:sp>
        <p:nvSpPr>
          <p:cNvPr id="13" name="TextBox 12"/>
          <p:cNvSpPr txBox="1"/>
          <p:nvPr/>
        </p:nvSpPr>
        <p:spPr>
          <a:xfrm>
            <a:off x="731520" y="5760720"/>
            <a:ext cx="5029200" cy="365760"/>
          </a:xfrm>
          <a:prstGeom prst="rect">
            <a:avLst/>
          </a:prstGeom>
          <a:noFill/>
        </p:spPr>
        <p:txBody>
          <a:bodyPr wrap="square"/>
          <a:lstStyle/>
          <a:p>
            <a:pPr algn="l">
              <a:spcBef>
                <a:spcPts val="0"/>
              </a:spcBef>
              <a:spcAft>
                <a:spcPts val="0"/>
              </a:spcAft>
              <a:defRPr sz="1000" b="0" i="0">
                <a:solidFill>
                  <a:srgbClr val="C6922A"/>
                </a:solidFill>
                <a:latin typeface="Montserrat"/>
              </a:defRPr>
            </a:pPr>
            <a:r>
              <a:t>Caption / 11pt / Montserrat</a:t>
            </a:r>
          </a:p>
        </p:txBody>
      </p:sp>
      <p:sp>
        <p:nvSpPr>
          <p:cNvPr id="14" name="TextBox 13"/>
          <p:cNvSpPr txBox="1"/>
          <p:nvPr/>
        </p:nvSpPr>
        <p:spPr>
          <a:xfrm>
            <a:off x="731520" y="6126480"/>
            <a:ext cx="5029200" cy="365760"/>
          </a:xfrm>
          <a:prstGeom prst="rect">
            <a:avLst/>
          </a:prstGeom>
          <a:noFill/>
        </p:spPr>
        <p:txBody>
          <a:bodyPr wrap="square"/>
          <a:lstStyle/>
          <a:p>
            <a:pPr algn="l">
              <a:spcBef>
                <a:spcPts val="0"/>
              </a:spcBef>
              <a:spcAft>
                <a:spcPts val="0"/>
              </a:spcAft>
              <a:defRPr sz="1100" b="0" i="0">
                <a:solidFill>
                  <a:srgbClr val="6B635B"/>
                </a:solidFill>
                <a:latin typeface="Montserrat"/>
              </a:defRPr>
            </a:pPr>
            <a:r>
              <a:t>Free same-day delivery available</a:t>
            </a:r>
          </a:p>
        </p:txBody>
      </p:sp>
      <p:sp>
        <p:nvSpPr>
          <p:cNvPr id="16" name="TextBox 15"/>
          <p:cNvSpPr txBox="1"/>
          <p:nvPr/>
        </p:nvSpPr>
        <p:spPr>
          <a:xfrm>
            <a:off x="6675120" y="1645920"/>
            <a:ext cx="4480560" cy="365760"/>
          </a:xfrm>
          <a:prstGeom prst="rect">
            <a:avLst/>
          </a:prstGeom>
          <a:noFill/>
        </p:spPr>
        <p:txBody>
          <a:bodyPr wrap="square"/>
          <a:lstStyle/>
          <a:p>
            <a:pPr algn="l">
              <a:spcBef>
                <a:spcPts val="0"/>
              </a:spcBef>
              <a:spcAft>
                <a:spcPts val="0"/>
              </a:spcAft>
              <a:defRPr sz="1200" b="1" i="0">
                <a:solidFill>
                  <a:srgbClr val="2D2D2D"/>
                </a:solidFill>
                <a:latin typeface="Montserrat"/>
              </a:defRPr>
            </a:pPr>
            <a:r>
              <a:rPr dirty="0">
                <a:solidFill>
                  <a:schemeClr val="bg1"/>
                </a:solidFill>
              </a:rPr>
              <a:t>SPACING GUIDELINES</a:t>
            </a:r>
          </a:p>
        </p:txBody>
      </p:sp>
      <p:sp>
        <p:nvSpPr>
          <p:cNvPr id="17" name="TextBox 16"/>
          <p:cNvSpPr txBox="1"/>
          <p:nvPr/>
        </p:nvSpPr>
        <p:spPr>
          <a:xfrm>
            <a:off x="6675120" y="2103120"/>
            <a:ext cx="4480560" cy="4114800"/>
          </a:xfrm>
          <a:prstGeom prst="rect">
            <a:avLst/>
          </a:prstGeom>
          <a:noFill/>
        </p:spPr>
        <p:txBody>
          <a:bodyPr wrap="square"/>
          <a:lstStyle/>
          <a:p>
            <a:pPr algn="l">
              <a:spcBef>
                <a:spcPts val="0"/>
              </a:spcBef>
              <a:spcAft>
                <a:spcPts val="0"/>
              </a:spcAft>
              <a:defRPr sz="1300" b="0" i="0">
                <a:solidFill>
                  <a:srgbClr val="2D2D2D"/>
                </a:solidFill>
                <a:latin typeface="Garamond"/>
              </a:defRPr>
            </a:pPr>
            <a:r>
              <a:rPr dirty="0">
                <a:solidFill>
                  <a:schemeClr val="bg1"/>
                </a:solidFill>
              </a:rPr>
              <a:t>Line Height</a:t>
            </a:r>
            <a:br>
              <a:rPr dirty="0">
                <a:solidFill>
                  <a:schemeClr val="bg1"/>
                </a:solidFill>
              </a:rPr>
            </a:br>
            <a:r>
              <a:rPr dirty="0">
                <a:solidFill>
                  <a:schemeClr val="bg1"/>
                </a:solidFill>
              </a:rPr>
              <a:t>Headlines: 1.1 - 1.2</a:t>
            </a:r>
            <a:br>
              <a:rPr dirty="0">
                <a:solidFill>
                  <a:schemeClr val="bg1"/>
                </a:solidFill>
              </a:rPr>
            </a:br>
            <a:r>
              <a:rPr dirty="0">
                <a:solidFill>
                  <a:schemeClr val="bg1"/>
                </a:solidFill>
              </a:rPr>
              <a:t>Body text: 1.5 - 1.6</a:t>
            </a:r>
            <a:br>
              <a:rPr dirty="0">
                <a:solidFill>
                  <a:schemeClr val="bg1"/>
                </a:solidFill>
              </a:rPr>
            </a:br>
            <a:r>
              <a:rPr dirty="0">
                <a:solidFill>
                  <a:schemeClr val="bg1"/>
                </a:solidFill>
              </a:rPr>
              <a:t>Captions: 1.4</a:t>
            </a:r>
            <a:br>
              <a:rPr dirty="0">
                <a:solidFill>
                  <a:schemeClr val="bg1"/>
                </a:solidFill>
              </a:rPr>
            </a:br>
            <a:br>
              <a:rPr dirty="0">
                <a:solidFill>
                  <a:schemeClr val="bg1"/>
                </a:solidFill>
              </a:rPr>
            </a:br>
            <a:r>
              <a:rPr dirty="0">
                <a:solidFill>
                  <a:schemeClr val="bg1"/>
                </a:solidFill>
              </a:rPr>
              <a:t>Letter Spacing</a:t>
            </a:r>
            <a:br>
              <a:rPr dirty="0">
                <a:solidFill>
                  <a:schemeClr val="bg1"/>
                </a:solidFill>
              </a:rPr>
            </a:br>
            <a:r>
              <a:rPr dirty="0">
                <a:solidFill>
                  <a:schemeClr val="bg1"/>
                </a:solidFill>
              </a:rPr>
              <a:t>Headlines: 0 - 0.02em</a:t>
            </a:r>
            <a:br>
              <a:rPr dirty="0">
                <a:solidFill>
                  <a:schemeClr val="bg1"/>
                </a:solidFill>
              </a:rPr>
            </a:br>
            <a:r>
              <a:rPr dirty="0">
                <a:solidFill>
                  <a:schemeClr val="bg1"/>
                </a:solidFill>
              </a:rPr>
              <a:t>Subheadings: 0.05 - 0.1em</a:t>
            </a:r>
            <a:br>
              <a:rPr dirty="0">
                <a:solidFill>
                  <a:schemeClr val="bg1"/>
                </a:solidFill>
              </a:rPr>
            </a:br>
            <a:r>
              <a:rPr dirty="0">
                <a:solidFill>
                  <a:schemeClr val="bg1"/>
                </a:solidFill>
              </a:rPr>
              <a:t>Body: Normal</a:t>
            </a:r>
            <a:br>
              <a:rPr dirty="0">
                <a:solidFill>
                  <a:schemeClr val="bg1"/>
                </a:solidFill>
              </a:rPr>
            </a:br>
            <a:r>
              <a:rPr dirty="0">
                <a:solidFill>
                  <a:schemeClr val="bg1"/>
                </a:solidFill>
              </a:rPr>
              <a:t>Uppercase text: 0.1 - 0.15em</a:t>
            </a:r>
            <a:br>
              <a:rPr dirty="0">
                <a:solidFill>
                  <a:schemeClr val="bg1"/>
                </a:solidFill>
              </a:rPr>
            </a:br>
            <a:br>
              <a:rPr dirty="0">
                <a:solidFill>
                  <a:schemeClr val="bg1"/>
                </a:solidFill>
              </a:rPr>
            </a:br>
            <a:r>
              <a:rPr dirty="0">
                <a:solidFill>
                  <a:schemeClr val="bg1"/>
                </a:solidFill>
              </a:rPr>
              <a:t>Paragraph Spacing</a:t>
            </a:r>
            <a:br>
              <a:rPr dirty="0">
                <a:solidFill>
                  <a:schemeClr val="bg1"/>
                </a:solidFill>
              </a:rPr>
            </a:br>
            <a:r>
              <a:rPr dirty="0">
                <a:solidFill>
                  <a:schemeClr val="bg1"/>
                </a:solidFill>
              </a:rPr>
              <a:t>Between paragraphs: 1em</a:t>
            </a:r>
            <a:br>
              <a:rPr dirty="0">
                <a:solidFill>
                  <a:schemeClr val="bg1"/>
                </a:solidFill>
              </a:rPr>
            </a:br>
            <a:r>
              <a:rPr dirty="0">
                <a:solidFill>
                  <a:schemeClr val="bg1"/>
                </a:solidFill>
              </a:rPr>
              <a:t>After headlines: 0.5em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05</a:t>
            </a:r>
          </a:p>
        </p:txBody>
      </p:sp>
      <p:sp>
        <p:nvSpPr>
          <p:cNvPr id="5" name="TextBox 4"/>
          <p:cNvSpPr txBox="1"/>
          <p:nvPr/>
        </p:nvSpPr>
        <p:spPr>
          <a:xfrm>
            <a:off x="731520" y="914400"/>
            <a:ext cx="4572000" cy="731520"/>
          </a:xfrm>
          <a:prstGeom prst="rect">
            <a:avLst/>
          </a:prstGeom>
          <a:noFill/>
        </p:spPr>
        <p:txBody>
          <a:bodyPr wrap="square"/>
          <a:lstStyle/>
          <a:p>
            <a:pPr algn="l">
              <a:spcBef>
                <a:spcPts val="0"/>
              </a:spcBef>
              <a:spcAft>
                <a:spcPts val="0"/>
              </a:spcAft>
              <a:defRPr sz="4200" b="0" i="0">
                <a:solidFill>
                  <a:srgbClr val="2D2D2D"/>
                </a:solidFill>
                <a:latin typeface="Didot"/>
              </a:defRPr>
            </a:pPr>
            <a:r>
              <a:t>Photography Style</a:t>
            </a:r>
          </a:p>
        </p:txBody>
      </p:sp>
      <p:sp>
        <p:nvSpPr>
          <p:cNvPr id="6" name="Rectangle 5"/>
          <p:cNvSpPr/>
          <p:nvPr/>
        </p:nvSpPr>
        <p:spPr>
          <a:xfrm>
            <a:off x="731520" y="1737360"/>
            <a:ext cx="27432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103120"/>
            <a:ext cx="3474720" cy="2560320"/>
          </a:xfrm>
          <a:prstGeom prst="rect">
            <a:avLst/>
          </a:prstGeom>
          <a:solidFill>
            <a:srgbClr val="6B63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108960"/>
            <a:ext cx="3474720" cy="457200"/>
          </a:xfrm>
          <a:prstGeom prst="rect">
            <a:avLst/>
          </a:prstGeom>
          <a:noFill/>
        </p:spPr>
        <p:txBody>
          <a:bodyPr wrap="square"/>
          <a:lstStyle/>
          <a:p>
            <a:pPr algn="ctr">
              <a:spcBef>
                <a:spcPts val="0"/>
              </a:spcBef>
              <a:spcAft>
                <a:spcPts val="0"/>
              </a:spcAft>
              <a:defRPr sz="1100" b="0" i="0">
                <a:solidFill>
                  <a:srgbClr val="FAF8F0"/>
                </a:solidFill>
                <a:latin typeface="Montserrat"/>
              </a:defRPr>
            </a:pPr>
            <a:r>
              <a:t>[ Product Photography ]</a:t>
            </a:r>
          </a:p>
        </p:txBody>
      </p:sp>
      <p:sp>
        <p:nvSpPr>
          <p:cNvPr id="9" name="Rectangle 8"/>
          <p:cNvSpPr/>
          <p:nvPr/>
        </p:nvSpPr>
        <p:spPr>
          <a:xfrm>
            <a:off x="4480560" y="2103120"/>
            <a:ext cx="3474720" cy="2560320"/>
          </a:xfrm>
          <a:prstGeom prst="rect">
            <a:avLst/>
          </a:prstGeom>
          <a:solidFill>
            <a:srgbClr val="715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3108960"/>
            <a:ext cx="3474720" cy="457200"/>
          </a:xfrm>
          <a:prstGeom prst="rect">
            <a:avLst/>
          </a:prstGeom>
          <a:noFill/>
        </p:spPr>
        <p:txBody>
          <a:bodyPr wrap="square"/>
          <a:lstStyle/>
          <a:p>
            <a:pPr algn="ctr">
              <a:spcBef>
                <a:spcPts val="0"/>
              </a:spcBef>
              <a:spcAft>
                <a:spcPts val="0"/>
              </a:spcAft>
              <a:defRPr sz="1100" b="0" i="0">
                <a:solidFill>
                  <a:srgbClr val="F5F0C2"/>
                </a:solidFill>
                <a:latin typeface="Montserrat"/>
              </a:defRPr>
            </a:pPr>
            <a:r>
              <a:t>[ Lifestyle Photography ]</a:t>
            </a:r>
          </a:p>
        </p:txBody>
      </p:sp>
      <p:sp>
        <p:nvSpPr>
          <p:cNvPr id="11" name="Rectangle 10"/>
          <p:cNvSpPr/>
          <p:nvPr/>
        </p:nvSpPr>
        <p:spPr>
          <a:xfrm>
            <a:off x="8229600" y="2103120"/>
            <a:ext cx="3474720" cy="256032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3108960"/>
            <a:ext cx="3474720" cy="457200"/>
          </a:xfrm>
          <a:prstGeom prst="rect">
            <a:avLst/>
          </a:prstGeom>
          <a:noFill/>
        </p:spPr>
        <p:txBody>
          <a:bodyPr wrap="square"/>
          <a:lstStyle/>
          <a:p>
            <a:pPr algn="ctr">
              <a:spcBef>
                <a:spcPts val="0"/>
              </a:spcBef>
              <a:spcAft>
                <a:spcPts val="0"/>
              </a:spcAft>
              <a:defRPr sz="1100" b="0" i="0">
                <a:solidFill>
                  <a:srgbClr val="2D2D2D"/>
                </a:solidFill>
                <a:latin typeface="Montserrat"/>
              </a:defRPr>
            </a:pPr>
            <a:r>
              <a:t>[ Detail Shots ]</a:t>
            </a:r>
          </a:p>
        </p:txBody>
      </p:sp>
      <p:sp>
        <p:nvSpPr>
          <p:cNvPr id="13" name="TextBox 12"/>
          <p:cNvSpPr txBox="1"/>
          <p:nvPr/>
        </p:nvSpPr>
        <p:spPr>
          <a:xfrm>
            <a:off x="731520" y="4846320"/>
            <a:ext cx="5486400" cy="365760"/>
          </a:xfrm>
          <a:prstGeom prst="rect">
            <a:avLst/>
          </a:prstGeom>
          <a:noFill/>
        </p:spPr>
        <p:txBody>
          <a:bodyPr wrap="square"/>
          <a:lstStyle/>
          <a:p>
            <a:pPr algn="l">
              <a:spcBef>
                <a:spcPts val="0"/>
              </a:spcBef>
              <a:spcAft>
                <a:spcPts val="0"/>
              </a:spcAft>
              <a:defRPr sz="1100" b="1" i="0">
                <a:solidFill>
                  <a:srgbClr val="C6922A"/>
                </a:solidFill>
                <a:latin typeface="Montserrat"/>
              </a:defRPr>
            </a:pPr>
            <a:r>
              <a:t>PHOTOGRAPHY GUIDELINES</a:t>
            </a:r>
          </a:p>
        </p:txBody>
      </p:sp>
      <p:sp>
        <p:nvSpPr>
          <p:cNvPr id="14" name="TextBox 13"/>
          <p:cNvSpPr txBox="1"/>
          <p:nvPr/>
        </p:nvSpPr>
        <p:spPr>
          <a:xfrm>
            <a:off x="731520" y="5212080"/>
            <a:ext cx="5029200" cy="1463040"/>
          </a:xfrm>
          <a:prstGeom prst="rect">
            <a:avLst/>
          </a:prstGeom>
          <a:noFill/>
        </p:spPr>
        <p:txBody>
          <a:bodyPr wrap="square"/>
          <a:lstStyle/>
          <a:p>
            <a:pPr algn="l">
              <a:spcBef>
                <a:spcPts val="0"/>
              </a:spcBef>
              <a:spcAft>
                <a:spcPts val="0"/>
              </a:spcAft>
              <a:defRPr sz="1200" b="0" i="0">
                <a:solidFill>
                  <a:srgbClr val="2D2D2D"/>
                </a:solidFill>
                <a:latin typeface="Garamond"/>
              </a:defRPr>
            </a:pPr>
            <a:r>
              <a:t>• Natural, soft lighting with warm undertones</a:t>
            </a:r>
            <a:br/>
            <a:r>
              <a:t>• Clean, uncluttered backgrounds (neutral or brand colors)</a:t>
            </a:r>
            <a:br/>
            <a:r>
              <a:t>• Focus on texture, detail, and craftsmanship</a:t>
            </a:r>
            <a:br/>
            <a:r>
              <a:t>• Capture emotional moments and elegant presentation</a:t>
            </a:r>
            <a:br/>
            <a:r>
              <a:t>• Consistent color grading aligned with brand palette</a:t>
            </a:r>
            <a:br/>
            <a:r>
              <a:t>• High resolution for print and digital use</a:t>
            </a:r>
          </a:p>
        </p:txBody>
      </p:sp>
      <p:sp>
        <p:nvSpPr>
          <p:cNvPr id="15" name="TextBox 14"/>
          <p:cNvSpPr txBox="1"/>
          <p:nvPr/>
        </p:nvSpPr>
        <p:spPr>
          <a:xfrm>
            <a:off x="6400800" y="4846320"/>
            <a:ext cx="5029200" cy="365760"/>
          </a:xfrm>
          <a:prstGeom prst="rect">
            <a:avLst/>
          </a:prstGeom>
          <a:noFill/>
        </p:spPr>
        <p:txBody>
          <a:bodyPr wrap="square"/>
          <a:lstStyle/>
          <a:p>
            <a:pPr algn="l">
              <a:spcBef>
                <a:spcPts val="0"/>
              </a:spcBef>
              <a:spcAft>
                <a:spcPts val="0"/>
              </a:spcAft>
              <a:defRPr sz="1100" b="1" i="0">
                <a:solidFill>
                  <a:srgbClr val="C6922A"/>
                </a:solidFill>
                <a:latin typeface="Montserrat"/>
              </a:defRPr>
            </a:pPr>
            <a:r>
              <a:t>MOOD KEYWORDS</a:t>
            </a:r>
          </a:p>
        </p:txBody>
      </p:sp>
      <p:sp>
        <p:nvSpPr>
          <p:cNvPr id="16" name="TextBox 15"/>
          <p:cNvSpPr txBox="1"/>
          <p:nvPr/>
        </p:nvSpPr>
        <p:spPr>
          <a:xfrm>
            <a:off x="6400800" y="5212080"/>
            <a:ext cx="5029200" cy="914400"/>
          </a:xfrm>
          <a:prstGeom prst="rect">
            <a:avLst/>
          </a:prstGeom>
          <a:noFill/>
        </p:spPr>
        <p:txBody>
          <a:bodyPr wrap="square"/>
          <a:lstStyle/>
          <a:p>
            <a:pPr algn="l">
              <a:spcBef>
                <a:spcPts val="0"/>
              </a:spcBef>
              <a:spcAft>
                <a:spcPts val="0"/>
              </a:spcAft>
              <a:defRPr sz="1300" b="0" i="1">
                <a:solidFill>
                  <a:srgbClr val="2D2D2D"/>
                </a:solidFill>
                <a:latin typeface="Garamond"/>
              </a:defRPr>
            </a:pPr>
            <a:r>
              <a:t>Luxurious • Warm • Intimate • Elegant • Romantic • Sophisticated • Refined • Timeless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625"/>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06</a:t>
            </a:r>
          </a:p>
        </p:txBody>
      </p:sp>
      <p:sp>
        <p:nvSpPr>
          <p:cNvPr id="4" name="TextBox 3"/>
          <p:cNvSpPr txBox="1"/>
          <p:nvPr/>
        </p:nvSpPr>
        <p:spPr>
          <a:xfrm>
            <a:off x="731520" y="914400"/>
            <a:ext cx="4572000" cy="731520"/>
          </a:xfrm>
          <a:prstGeom prst="rect">
            <a:avLst/>
          </a:prstGeom>
          <a:noFill/>
        </p:spPr>
        <p:txBody>
          <a:bodyPr wrap="square"/>
          <a:lstStyle/>
          <a:p>
            <a:pPr algn="l">
              <a:spcBef>
                <a:spcPts val="0"/>
              </a:spcBef>
              <a:spcAft>
                <a:spcPts val="0"/>
              </a:spcAft>
              <a:defRPr sz="4200" b="0" i="0">
                <a:solidFill>
                  <a:srgbClr val="FFFFFF"/>
                </a:solidFill>
                <a:latin typeface="Didot"/>
              </a:defRPr>
            </a:pPr>
            <a:r>
              <a:t>Brand Voice &amp; Tone</a:t>
            </a:r>
          </a:p>
        </p:txBody>
      </p:sp>
      <p:sp>
        <p:nvSpPr>
          <p:cNvPr id="5" name="Rectangle 4"/>
          <p:cNvSpPr/>
          <p:nvPr/>
        </p:nvSpPr>
        <p:spPr>
          <a:xfrm>
            <a:off x="731520" y="1737360"/>
            <a:ext cx="27432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286000"/>
            <a:ext cx="2194560" cy="365760"/>
          </a:xfrm>
          <a:prstGeom prst="rect">
            <a:avLst/>
          </a:prstGeom>
          <a:noFill/>
        </p:spPr>
        <p:txBody>
          <a:bodyPr wrap="square"/>
          <a:lstStyle/>
          <a:p>
            <a:pPr algn="l">
              <a:spcBef>
                <a:spcPts val="0"/>
              </a:spcBef>
              <a:spcAft>
                <a:spcPts val="0"/>
              </a:spcAft>
              <a:defRPr sz="2000" b="0" i="0">
                <a:solidFill>
                  <a:srgbClr val="2D2D2D"/>
                </a:solidFill>
                <a:latin typeface="Didot"/>
              </a:defRPr>
            </a:pPr>
            <a:r>
              <a:rPr dirty="0">
                <a:solidFill>
                  <a:schemeClr val="bg1"/>
                </a:solidFill>
              </a:rPr>
              <a:t>Elegant</a:t>
            </a:r>
          </a:p>
        </p:txBody>
      </p:sp>
      <p:sp>
        <p:nvSpPr>
          <p:cNvPr id="8" name="TextBox 7"/>
          <p:cNvSpPr txBox="1"/>
          <p:nvPr/>
        </p:nvSpPr>
        <p:spPr>
          <a:xfrm>
            <a:off x="914400" y="2743200"/>
            <a:ext cx="2194560" cy="822960"/>
          </a:xfrm>
          <a:prstGeom prst="rect">
            <a:avLst/>
          </a:prstGeom>
          <a:noFill/>
        </p:spPr>
        <p:txBody>
          <a:bodyPr wrap="square"/>
          <a:lstStyle/>
          <a:p>
            <a:pPr algn="l">
              <a:spcBef>
                <a:spcPts val="0"/>
              </a:spcBef>
              <a:spcAft>
                <a:spcPts val="0"/>
              </a:spcAft>
              <a:defRPr sz="1100" b="0" i="0">
                <a:solidFill>
                  <a:srgbClr val="2D2D2D"/>
                </a:solidFill>
                <a:latin typeface="Garamond"/>
              </a:defRPr>
            </a:pPr>
            <a:r>
              <a:rPr dirty="0">
                <a:solidFill>
                  <a:schemeClr val="bg1"/>
                </a:solidFill>
              </a:rPr>
              <a:t>Sophisticated language without being pretentious</a:t>
            </a:r>
          </a:p>
        </p:txBody>
      </p:sp>
      <p:sp>
        <p:nvSpPr>
          <p:cNvPr id="10" name="TextBox 9"/>
          <p:cNvSpPr txBox="1"/>
          <p:nvPr/>
        </p:nvSpPr>
        <p:spPr>
          <a:xfrm>
            <a:off x="3657600" y="2286000"/>
            <a:ext cx="2194560" cy="365760"/>
          </a:xfrm>
          <a:prstGeom prst="rect">
            <a:avLst/>
          </a:prstGeom>
          <a:noFill/>
        </p:spPr>
        <p:txBody>
          <a:bodyPr wrap="square"/>
          <a:lstStyle/>
          <a:p>
            <a:pPr algn="l">
              <a:spcBef>
                <a:spcPts val="0"/>
              </a:spcBef>
              <a:spcAft>
                <a:spcPts val="0"/>
              </a:spcAft>
              <a:defRPr sz="2000" b="0" i="0">
                <a:solidFill>
                  <a:srgbClr val="2D2D2D"/>
                </a:solidFill>
                <a:latin typeface="Didot"/>
              </a:defRPr>
            </a:pPr>
            <a:r>
              <a:rPr>
                <a:solidFill>
                  <a:schemeClr val="bg1"/>
                </a:solidFill>
              </a:rPr>
              <a:t>Warm</a:t>
            </a:r>
          </a:p>
        </p:txBody>
      </p:sp>
      <p:sp>
        <p:nvSpPr>
          <p:cNvPr id="11" name="TextBox 10"/>
          <p:cNvSpPr txBox="1"/>
          <p:nvPr/>
        </p:nvSpPr>
        <p:spPr>
          <a:xfrm>
            <a:off x="3657600" y="2743200"/>
            <a:ext cx="2194560" cy="822960"/>
          </a:xfrm>
          <a:prstGeom prst="rect">
            <a:avLst/>
          </a:prstGeom>
          <a:noFill/>
        </p:spPr>
        <p:txBody>
          <a:bodyPr wrap="square"/>
          <a:lstStyle/>
          <a:p>
            <a:pPr algn="l">
              <a:spcBef>
                <a:spcPts val="0"/>
              </a:spcBef>
              <a:spcAft>
                <a:spcPts val="0"/>
              </a:spcAft>
              <a:defRPr sz="1100" b="0" i="0">
                <a:solidFill>
                  <a:srgbClr val="2D2D2D"/>
                </a:solidFill>
                <a:latin typeface="Garamond"/>
              </a:defRPr>
            </a:pPr>
            <a:r>
              <a:rPr dirty="0">
                <a:solidFill>
                  <a:schemeClr val="bg1"/>
                </a:solidFill>
              </a:rPr>
              <a:t>Genuine care and personal connection</a:t>
            </a:r>
          </a:p>
        </p:txBody>
      </p:sp>
      <p:sp>
        <p:nvSpPr>
          <p:cNvPr id="13" name="TextBox 12"/>
          <p:cNvSpPr txBox="1"/>
          <p:nvPr/>
        </p:nvSpPr>
        <p:spPr>
          <a:xfrm>
            <a:off x="6400800" y="2286000"/>
            <a:ext cx="2194560" cy="365760"/>
          </a:xfrm>
          <a:prstGeom prst="rect">
            <a:avLst/>
          </a:prstGeom>
          <a:noFill/>
        </p:spPr>
        <p:txBody>
          <a:bodyPr wrap="square"/>
          <a:lstStyle/>
          <a:p>
            <a:pPr algn="l">
              <a:spcBef>
                <a:spcPts val="0"/>
              </a:spcBef>
              <a:spcAft>
                <a:spcPts val="0"/>
              </a:spcAft>
              <a:defRPr sz="2000" b="0" i="0">
                <a:solidFill>
                  <a:srgbClr val="2D2D2D"/>
                </a:solidFill>
                <a:latin typeface="Didot"/>
              </a:defRPr>
            </a:pPr>
            <a:r>
              <a:rPr>
                <a:solidFill>
                  <a:schemeClr val="bg1"/>
                </a:solidFill>
              </a:rPr>
              <a:t>Confident</a:t>
            </a:r>
          </a:p>
        </p:txBody>
      </p:sp>
      <p:sp>
        <p:nvSpPr>
          <p:cNvPr id="14" name="TextBox 13"/>
          <p:cNvSpPr txBox="1"/>
          <p:nvPr/>
        </p:nvSpPr>
        <p:spPr>
          <a:xfrm>
            <a:off x="6400800" y="2743200"/>
            <a:ext cx="2194560" cy="822960"/>
          </a:xfrm>
          <a:prstGeom prst="rect">
            <a:avLst/>
          </a:prstGeom>
          <a:noFill/>
        </p:spPr>
        <p:txBody>
          <a:bodyPr wrap="square"/>
          <a:lstStyle/>
          <a:p>
            <a:pPr algn="l">
              <a:spcBef>
                <a:spcPts val="0"/>
              </a:spcBef>
              <a:spcAft>
                <a:spcPts val="0"/>
              </a:spcAft>
              <a:defRPr sz="1100" b="0" i="0">
                <a:solidFill>
                  <a:srgbClr val="2D2D2D"/>
                </a:solidFill>
                <a:latin typeface="Garamond"/>
              </a:defRPr>
            </a:pPr>
            <a:r>
              <a:rPr dirty="0">
                <a:solidFill>
                  <a:schemeClr val="bg1"/>
                </a:solidFill>
              </a:rPr>
              <a:t>Assured quality without arrogance</a:t>
            </a:r>
          </a:p>
        </p:txBody>
      </p:sp>
      <p:sp>
        <p:nvSpPr>
          <p:cNvPr id="16" name="TextBox 15"/>
          <p:cNvSpPr txBox="1"/>
          <p:nvPr/>
        </p:nvSpPr>
        <p:spPr>
          <a:xfrm>
            <a:off x="9144000" y="2286000"/>
            <a:ext cx="2194560" cy="365760"/>
          </a:xfrm>
          <a:prstGeom prst="rect">
            <a:avLst/>
          </a:prstGeom>
          <a:noFill/>
        </p:spPr>
        <p:txBody>
          <a:bodyPr wrap="square"/>
          <a:lstStyle/>
          <a:p>
            <a:pPr algn="l">
              <a:spcBef>
                <a:spcPts val="0"/>
              </a:spcBef>
              <a:spcAft>
                <a:spcPts val="0"/>
              </a:spcAft>
              <a:defRPr sz="2000" b="0" i="0">
                <a:solidFill>
                  <a:srgbClr val="2D2D2D"/>
                </a:solidFill>
                <a:latin typeface="Didot"/>
              </a:defRPr>
            </a:pPr>
            <a:r>
              <a:rPr>
                <a:solidFill>
                  <a:schemeClr val="bg1"/>
                </a:solidFill>
              </a:rPr>
              <a:t>Inviting</a:t>
            </a:r>
          </a:p>
        </p:txBody>
      </p:sp>
      <p:sp>
        <p:nvSpPr>
          <p:cNvPr id="17" name="TextBox 16"/>
          <p:cNvSpPr txBox="1"/>
          <p:nvPr/>
        </p:nvSpPr>
        <p:spPr>
          <a:xfrm>
            <a:off x="9144000" y="2743200"/>
            <a:ext cx="2194560" cy="822960"/>
          </a:xfrm>
          <a:prstGeom prst="rect">
            <a:avLst/>
          </a:prstGeom>
          <a:noFill/>
        </p:spPr>
        <p:txBody>
          <a:bodyPr wrap="square"/>
          <a:lstStyle/>
          <a:p>
            <a:pPr algn="l">
              <a:spcBef>
                <a:spcPts val="0"/>
              </a:spcBef>
              <a:spcAft>
                <a:spcPts val="0"/>
              </a:spcAft>
              <a:defRPr sz="1100" b="0" i="0">
                <a:solidFill>
                  <a:srgbClr val="2D2D2D"/>
                </a:solidFill>
                <a:latin typeface="Garamond"/>
              </a:defRPr>
            </a:pPr>
            <a:r>
              <a:rPr>
                <a:solidFill>
                  <a:schemeClr val="bg1"/>
                </a:solidFill>
              </a:rPr>
              <a:t>Welcoming and approachable luxury</a:t>
            </a:r>
          </a:p>
        </p:txBody>
      </p:sp>
      <p:sp>
        <p:nvSpPr>
          <p:cNvPr id="18" name="TextBox 17"/>
          <p:cNvSpPr txBox="1"/>
          <p:nvPr/>
        </p:nvSpPr>
        <p:spPr>
          <a:xfrm>
            <a:off x="731520" y="4114800"/>
            <a:ext cx="5029200" cy="365760"/>
          </a:xfrm>
          <a:prstGeom prst="rect">
            <a:avLst/>
          </a:prstGeom>
          <a:noFill/>
        </p:spPr>
        <p:txBody>
          <a:bodyPr wrap="square"/>
          <a:lstStyle/>
          <a:p>
            <a:pPr algn="l">
              <a:spcBef>
                <a:spcPts val="0"/>
              </a:spcBef>
              <a:spcAft>
                <a:spcPts val="0"/>
              </a:spcAft>
              <a:defRPr sz="1200" b="1" i="0">
                <a:solidFill>
                  <a:srgbClr val="C6922A"/>
                </a:solidFill>
                <a:latin typeface="Montserrat"/>
              </a:defRPr>
            </a:pPr>
            <a:r>
              <a:rPr dirty="0"/>
              <a:t>WE SAY</a:t>
            </a:r>
          </a:p>
        </p:txBody>
      </p:sp>
      <p:sp>
        <p:nvSpPr>
          <p:cNvPr id="19" name="TextBox 18"/>
          <p:cNvSpPr txBox="1"/>
          <p:nvPr/>
        </p:nvSpPr>
        <p:spPr>
          <a:xfrm>
            <a:off x="731520" y="4480560"/>
            <a:ext cx="5029200" cy="1828800"/>
          </a:xfrm>
          <a:prstGeom prst="rect">
            <a:avLst/>
          </a:prstGeom>
          <a:noFill/>
        </p:spPr>
        <p:txBody>
          <a:bodyPr wrap="square"/>
          <a:lstStyle/>
          <a:p>
            <a:pPr algn="l">
              <a:spcBef>
                <a:spcPts val="0"/>
              </a:spcBef>
              <a:spcAft>
                <a:spcPts val="0"/>
              </a:spcAft>
              <a:defRPr sz="1300" b="0" i="0">
                <a:solidFill>
                  <a:srgbClr val="F5F0C2"/>
                </a:solidFill>
                <a:latin typeface="Garamond"/>
              </a:defRPr>
            </a:pPr>
            <a:r>
              <a:rPr dirty="0"/>
              <a:t>✓ "Deliver elegance to someone special today."</a:t>
            </a:r>
            <a:br>
              <a:rPr dirty="0"/>
            </a:br>
            <a:r>
              <a:rPr dirty="0"/>
              <a:t>✓ "Crafted with care, delivered with love."</a:t>
            </a:r>
            <a:br>
              <a:rPr dirty="0"/>
            </a:br>
            <a:r>
              <a:rPr dirty="0"/>
              <a:t>✓ "Experience the art of luxury gifting."</a:t>
            </a:r>
            <a:br>
              <a:rPr dirty="0"/>
            </a:br>
            <a:r>
              <a:rPr dirty="0"/>
              <a:t>✓ "Make every moment unforgettable.</a:t>
            </a:r>
          </a:p>
        </p:txBody>
      </p:sp>
      <p:sp>
        <p:nvSpPr>
          <p:cNvPr id="20" name="TextBox 19"/>
          <p:cNvSpPr txBox="1"/>
          <p:nvPr/>
        </p:nvSpPr>
        <p:spPr>
          <a:xfrm>
            <a:off x="6400800" y="4114800"/>
            <a:ext cx="5029200" cy="365760"/>
          </a:xfrm>
          <a:prstGeom prst="rect">
            <a:avLst/>
          </a:prstGeom>
          <a:noFill/>
        </p:spPr>
        <p:txBody>
          <a:bodyPr wrap="square"/>
          <a:lstStyle/>
          <a:p>
            <a:pPr algn="l">
              <a:spcBef>
                <a:spcPts val="0"/>
              </a:spcBef>
              <a:spcAft>
                <a:spcPts val="0"/>
              </a:spcAft>
              <a:defRPr sz="1200" b="1" i="0">
                <a:solidFill>
                  <a:srgbClr val="CC9999"/>
                </a:solidFill>
                <a:latin typeface="Montserrat"/>
              </a:defRPr>
            </a:pPr>
            <a:r>
              <a:rPr sz="1200" b="1" dirty="0">
                <a:solidFill>
                  <a:srgbClr val="C6922A"/>
                </a:solidFill>
                <a:latin typeface="Montserrat"/>
              </a:rPr>
              <a:t>WE DON'T SAY</a:t>
            </a:r>
          </a:p>
        </p:txBody>
      </p:sp>
      <p:sp>
        <p:nvSpPr>
          <p:cNvPr id="21" name="TextBox 20"/>
          <p:cNvSpPr txBox="1"/>
          <p:nvPr/>
        </p:nvSpPr>
        <p:spPr>
          <a:xfrm>
            <a:off x="6400800" y="4480560"/>
            <a:ext cx="5029200" cy="1828800"/>
          </a:xfrm>
          <a:prstGeom prst="rect">
            <a:avLst/>
          </a:prstGeom>
          <a:noFill/>
        </p:spPr>
        <p:txBody>
          <a:bodyPr wrap="square"/>
          <a:lstStyle/>
          <a:p>
            <a:pPr algn="l">
              <a:spcBef>
                <a:spcPts val="0"/>
              </a:spcBef>
              <a:spcAft>
                <a:spcPts val="0"/>
              </a:spcAft>
              <a:defRPr sz="1300" b="0" i="0">
                <a:solidFill>
                  <a:srgbClr val="6B635B"/>
                </a:solidFill>
                <a:latin typeface="Garamond"/>
              </a:defRPr>
            </a:pPr>
            <a:r>
              <a:rPr dirty="0">
                <a:solidFill>
                  <a:srgbClr val="E3DEB5"/>
                </a:solidFill>
              </a:rPr>
              <a:t>✗ "Buy flowers now!"</a:t>
            </a:r>
            <a:br>
              <a:rPr dirty="0">
                <a:solidFill>
                  <a:srgbClr val="E3DEB5"/>
                </a:solidFill>
              </a:rPr>
            </a:br>
            <a:r>
              <a:rPr dirty="0">
                <a:solidFill>
                  <a:srgbClr val="E3DEB5"/>
                </a:solidFill>
              </a:rPr>
              <a:t>✗ "Cheap prices, great deals!"</a:t>
            </a:r>
            <a:br>
              <a:rPr dirty="0">
                <a:solidFill>
                  <a:srgbClr val="E3DEB5"/>
                </a:solidFill>
              </a:rPr>
            </a:br>
            <a:r>
              <a:rPr dirty="0">
                <a:solidFill>
                  <a:srgbClr val="E3DEB5"/>
                </a:solidFill>
              </a:rPr>
              <a:t>✗ "Limited time offer, hurry!"</a:t>
            </a:r>
            <a:br>
              <a:rPr dirty="0">
                <a:solidFill>
                  <a:srgbClr val="E3DEB5"/>
                </a:solidFill>
              </a:rPr>
            </a:br>
            <a:r>
              <a:rPr dirty="0">
                <a:solidFill>
                  <a:srgbClr val="E3DEB5"/>
                </a:solidFill>
              </a:rPr>
              <a:t>✗ "Best flowers in town!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37160" cy="68580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57200"/>
            <a:ext cx="9144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07</a:t>
            </a:r>
          </a:p>
        </p:txBody>
      </p:sp>
      <p:sp>
        <p:nvSpPr>
          <p:cNvPr id="5" name="TextBox 4"/>
          <p:cNvSpPr txBox="1"/>
          <p:nvPr/>
        </p:nvSpPr>
        <p:spPr>
          <a:xfrm>
            <a:off x="731520" y="914400"/>
            <a:ext cx="7315200" cy="731520"/>
          </a:xfrm>
          <a:prstGeom prst="rect">
            <a:avLst/>
          </a:prstGeom>
          <a:noFill/>
        </p:spPr>
        <p:txBody>
          <a:bodyPr wrap="square"/>
          <a:lstStyle/>
          <a:p>
            <a:pPr algn="l">
              <a:spcBef>
                <a:spcPts val="0"/>
              </a:spcBef>
              <a:spcAft>
                <a:spcPts val="0"/>
              </a:spcAft>
              <a:defRPr sz="4200" b="0" i="0">
                <a:solidFill>
                  <a:srgbClr val="2D2D2D"/>
                </a:solidFill>
                <a:latin typeface="Didot"/>
              </a:defRPr>
            </a:pPr>
            <a:r>
              <a:t>Social Media Templates</a:t>
            </a:r>
          </a:p>
        </p:txBody>
      </p:sp>
      <p:sp>
        <p:nvSpPr>
          <p:cNvPr id="6" name="Rectangle 5"/>
          <p:cNvSpPr/>
          <p:nvPr/>
        </p:nvSpPr>
        <p:spPr>
          <a:xfrm>
            <a:off x="731520" y="1737360"/>
            <a:ext cx="27432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103120"/>
            <a:ext cx="5029200" cy="82296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240279"/>
            <a:ext cx="2286000" cy="274320"/>
          </a:xfrm>
          <a:prstGeom prst="rect">
            <a:avLst/>
          </a:prstGeom>
          <a:noFill/>
        </p:spPr>
        <p:txBody>
          <a:bodyPr wrap="square"/>
          <a:lstStyle/>
          <a:p>
            <a:pPr algn="l">
              <a:spcBef>
                <a:spcPts val="0"/>
              </a:spcBef>
              <a:spcAft>
                <a:spcPts val="0"/>
              </a:spcAft>
              <a:defRPr sz="1100" b="1" i="0">
                <a:solidFill>
                  <a:srgbClr val="2D2D2D"/>
                </a:solidFill>
                <a:latin typeface="Montserrat"/>
              </a:defRPr>
            </a:pPr>
            <a:r>
              <a:t>Instagram Post</a:t>
            </a:r>
          </a:p>
        </p:txBody>
      </p:sp>
      <p:sp>
        <p:nvSpPr>
          <p:cNvPr id="9" name="TextBox 8"/>
          <p:cNvSpPr txBox="1"/>
          <p:nvPr/>
        </p:nvSpPr>
        <p:spPr>
          <a:xfrm>
            <a:off x="914400" y="2514600"/>
            <a:ext cx="1828800" cy="274320"/>
          </a:xfrm>
          <a:prstGeom prst="rect">
            <a:avLst/>
          </a:prstGeom>
          <a:noFill/>
        </p:spPr>
        <p:txBody>
          <a:bodyPr wrap="square"/>
          <a:lstStyle/>
          <a:p>
            <a:pPr algn="l">
              <a:spcBef>
                <a:spcPts val="0"/>
              </a:spcBef>
              <a:spcAft>
                <a:spcPts val="0"/>
              </a:spcAft>
              <a:defRPr sz="1000" b="0" i="0">
                <a:solidFill>
                  <a:srgbClr val="6B635B"/>
                </a:solidFill>
                <a:latin typeface="Montserrat"/>
              </a:defRPr>
            </a:pPr>
            <a:r>
              <a:t>1080 × 1080 px</a:t>
            </a:r>
          </a:p>
        </p:txBody>
      </p:sp>
      <p:sp>
        <p:nvSpPr>
          <p:cNvPr id="10" name="TextBox 9"/>
          <p:cNvSpPr txBox="1"/>
          <p:nvPr/>
        </p:nvSpPr>
        <p:spPr>
          <a:xfrm>
            <a:off x="4663440" y="2377439"/>
            <a:ext cx="914400" cy="274320"/>
          </a:xfrm>
          <a:prstGeom prst="rect">
            <a:avLst/>
          </a:prstGeom>
          <a:noFill/>
        </p:spPr>
        <p:txBody>
          <a:bodyPr wrap="square"/>
          <a:lstStyle/>
          <a:p>
            <a:pPr algn="r">
              <a:spcBef>
                <a:spcPts val="0"/>
              </a:spcBef>
              <a:spcAft>
                <a:spcPts val="0"/>
              </a:spcAft>
              <a:defRPr sz="1000" b="0" i="0">
                <a:solidFill>
                  <a:srgbClr val="C6922A"/>
                </a:solidFill>
                <a:latin typeface="Montserrat"/>
              </a:defRPr>
            </a:pPr>
            <a:r>
              <a:t>1:1</a:t>
            </a:r>
          </a:p>
        </p:txBody>
      </p:sp>
      <p:sp>
        <p:nvSpPr>
          <p:cNvPr id="11" name="Rectangle 10"/>
          <p:cNvSpPr/>
          <p:nvPr/>
        </p:nvSpPr>
        <p:spPr>
          <a:xfrm>
            <a:off x="731520" y="3108960"/>
            <a:ext cx="5029200" cy="82296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246120"/>
            <a:ext cx="2286000" cy="274320"/>
          </a:xfrm>
          <a:prstGeom prst="rect">
            <a:avLst/>
          </a:prstGeom>
          <a:noFill/>
        </p:spPr>
        <p:txBody>
          <a:bodyPr wrap="square"/>
          <a:lstStyle/>
          <a:p>
            <a:pPr algn="l">
              <a:spcBef>
                <a:spcPts val="0"/>
              </a:spcBef>
              <a:spcAft>
                <a:spcPts val="0"/>
              </a:spcAft>
              <a:defRPr sz="1100" b="1" i="0">
                <a:solidFill>
                  <a:srgbClr val="2D2D2D"/>
                </a:solidFill>
                <a:latin typeface="Montserrat"/>
              </a:defRPr>
            </a:pPr>
            <a:r>
              <a:t>Instagram Story</a:t>
            </a:r>
          </a:p>
        </p:txBody>
      </p:sp>
      <p:sp>
        <p:nvSpPr>
          <p:cNvPr id="13" name="TextBox 12"/>
          <p:cNvSpPr txBox="1"/>
          <p:nvPr/>
        </p:nvSpPr>
        <p:spPr>
          <a:xfrm>
            <a:off x="914400" y="3520440"/>
            <a:ext cx="1828800" cy="274320"/>
          </a:xfrm>
          <a:prstGeom prst="rect">
            <a:avLst/>
          </a:prstGeom>
          <a:noFill/>
        </p:spPr>
        <p:txBody>
          <a:bodyPr wrap="square"/>
          <a:lstStyle/>
          <a:p>
            <a:pPr algn="l">
              <a:spcBef>
                <a:spcPts val="0"/>
              </a:spcBef>
              <a:spcAft>
                <a:spcPts val="0"/>
              </a:spcAft>
              <a:defRPr sz="1000" b="0" i="0">
                <a:solidFill>
                  <a:srgbClr val="6B635B"/>
                </a:solidFill>
                <a:latin typeface="Montserrat"/>
              </a:defRPr>
            </a:pPr>
            <a:r>
              <a:t>1080 × 1920 px</a:t>
            </a:r>
          </a:p>
        </p:txBody>
      </p:sp>
      <p:sp>
        <p:nvSpPr>
          <p:cNvPr id="14" name="TextBox 13"/>
          <p:cNvSpPr txBox="1"/>
          <p:nvPr/>
        </p:nvSpPr>
        <p:spPr>
          <a:xfrm>
            <a:off x="4663440" y="3383279"/>
            <a:ext cx="914400" cy="274320"/>
          </a:xfrm>
          <a:prstGeom prst="rect">
            <a:avLst/>
          </a:prstGeom>
          <a:noFill/>
        </p:spPr>
        <p:txBody>
          <a:bodyPr wrap="square"/>
          <a:lstStyle/>
          <a:p>
            <a:pPr algn="r">
              <a:spcBef>
                <a:spcPts val="0"/>
              </a:spcBef>
              <a:spcAft>
                <a:spcPts val="0"/>
              </a:spcAft>
              <a:defRPr sz="1000" b="0" i="0">
                <a:solidFill>
                  <a:srgbClr val="C6922A"/>
                </a:solidFill>
                <a:latin typeface="Montserrat"/>
              </a:defRPr>
            </a:pPr>
            <a:r>
              <a:t>9:16</a:t>
            </a:r>
          </a:p>
        </p:txBody>
      </p:sp>
      <p:sp>
        <p:nvSpPr>
          <p:cNvPr id="15" name="Rectangle 14"/>
          <p:cNvSpPr/>
          <p:nvPr/>
        </p:nvSpPr>
        <p:spPr>
          <a:xfrm>
            <a:off x="731520" y="4114800"/>
            <a:ext cx="5029200" cy="82296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251960"/>
            <a:ext cx="2286000" cy="274320"/>
          </a:xfrm>
          <a:prstGeom prst="rect">
            <a:avLst/>
          </a:prstGeom>
          <a:noFill/>
        </p:spPr>
        <p:txBody>
          <a:bodyPr wrap="square"/>
          <a:lstStyle/>
          <a:p>
            <a:pPr algn="l">
              <a:spcBef>
                <a:spcPts val="0"/>
              </a:spcBef>
              <a:spcAft>
                <a:spcPts val="0"/>
              </a:spcAft>
              <a:defRPr sz="1100" b="1" i="0">
                <a:solidFill>
                  <a:srgbClr val="2D2D2D"/>
                </a:solidFill>
                <a:latin typeface="Montserrat"/>
              </a:defRPr>
            </a:pPr>
            <a:r>
              <a:t>Facebook Post</a:t>
            </a:r>
          </a:p>
        </p:txBody>
      </p:sp>
      <p:sp>
        <p:nvSpPr>
          <p:cNvPr id="17" name="TextBox 16"/>
          <p:cNvSpPr txBox="1"/>
          <p:nvPr/>
        </p:nvSpPr>
        <p:spPr>
          <a:xfrm>
            <a:off x="914400" y="4526280"/>
            <a:ext cx="1828800" cy="274320"/>
          </a:xfrm>
          <a:prstGeom prst="rect">
            <a:avLst/>
          </a:prstGeom>
          <a:noFill/>
        </p:spPr>
        <p:txBody>
          <a:bodyPr wrap="square"/>
          <a:lstStyle/>
          <a:p>
            <a:pPr algn="l">
              <a:spcBef>
                <a:spcPts val="0"/>
              </a:spcBef>
              <a:spcAft>
                <a:spcPts val="0"/>
              </a:spcAft>
              <a:defRPr sz="1000" b="0" i="0">
                <a:solidFill>
                  <a:srgbClr val="6B635B"/>
                </a:solidFill>
                <a:latin typeface="Montserrat"/>
              </a:defRPr>
            </a:pPr>
            <a:r>
              <a:t>1200 × 630 px</a:t>
            </a:r>
          </a:p>
        </p:txBody>
      </p:sp>
      <p:sp>
        <p:nvSpPr>
          <p:cNvPr id="18" name="TextBox 17"/>
          <p:cNvSpPr txBox="1"/>
          <p:nvPr/>
        </p:nvSpPr>
        <p:spPr>
          <a:xfrm>
            <a:off x="4663440" y="4389120"/>
            <a:ext cx="914400" cy="274320"/>
          </a:xfrm>
          <a:prstGeom prst="rect">
            <a:avLst/>
          </a:prstGeom>
          <a:noFill/>
        </p:spPr>
        <p:txBody>
          <a:bodyPr wrap="square"/>
          <a:lstStyle/>
          <a:p>
            <a:pPr algn="r">
              <a:spcBef>
                <a:spcPts val="0"/>
              </a:spcBef>
              <a:spcAft>
                <a:spcPts val="0"/>
              </a:spcAft>
              <a:defRPr sz="1000" b="0" i="0">
                <a:solidFill>
                  <a:srgbClr val="C6922A"/>
                </a:solidFill>
                <a:latin typeface="Montserrat"/>
              </a:defRPr>
            </a:pPr>
            <a:r>
              <a:t>1.91:1</a:t>
            </a:r>
          </a:p>
        </p:txBody>
      </p:sp>
      <p:sp>
        <p:nvSpPr>
          <p:cNvPr id="19" name="Rectangle 18"/>
          <p:cNvSpPr/>
          <p:nvPr/>
        </p:nvSpPr>
        <p:spPr>
          <a:xfrm>
            <a:off x="731520" y="5120640"/>
            <a:ext cx="5029200" cy="82296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257800"/>
            <a:ext cx="2286000" cy="274320"/>
          </a:xfrm>
          <a:prstGeom prst="rect">
            <a:avLst/>
          </a:prstGeom>
          <a:noFill/>
        </p:spPr>
        <p:txBody>
          <a:bodyPr wrap="square"/>
          <a:lstStyle/>
          <a:p>
            <a:pPr algn="l">
              <a:spcBef>
                <a:spcPts val="0"/>
              </a:spcBef>
              <a:spcAft>
                <a:spcPts val="0"/>
              </a:spcAft>
              <a:defRPr sz="1100" b="1" i="0">
                <a:solidFill>
                  <a:srgbClr val="2D2D2D"/>
                </a:solidFill>
                <a:latin typeface="Montserrat"/>
              </a:defRPr>
            </a:pPr>
            <a:r>
              <a:t>Facebook Cover</a:t>
            </a:r>
          </a:p>
        </p:txBody>
      </p:sp>
      <p:sp>
        <p:nvSpPr>
          <p:cNvPr id="21" name="TextBox 20"/>
          <p:cNvSpPr txBox="1"/>
          <p:nvPr/>
        </p:nvSpPr>
        <p:spPr>
          <a:xfrm>
            <a:off x="914400" y="5532120"/>
            <a:ext cx="1828800" cy="274320"/>
          </a:xfrm>
          <a:prstGeom prst="rect">
            <a:avLst/>
          </a:prstGeom>
          <a:noFill/>
        </p:spPr>
        <p:txBody>
          <a:bodyPr wrap="square"/>
          <a:lstStyle/>
          <a:p>
            <a:pPr algn="l">
              <a:spcBef>
                <a:spcPts val="0"/>
              </a:spcBef>
              <a:spcAft>
                <a:spcPts val="0"/>
              </a:spcAft>
              <a:defRPr sz="1000" b="0" i="0">
                <a:solidFill>
                  <a:srgbClr val="6B635B"/>
                </a:solidFill>
                <a:latin typeface="Montserrat"/>
              </a:defRPr>
            </a:pPr>
            <a:r>
              <a:t>820 × 312 px</a:t>
            </a:r>
          </a:p>
        </p:txBody>
      </p:sp>
      <p:sp>
        <p:nvSpPr>
          <p:cNvPr id="22" name="TextBox 21"/>
          <p:cNvSpPr txBox="1"/>
          <p:nvPr/>
        </p:nvSpPr>
        <p:spPr>
          <a:xfrm>
            <a:off x="4663440" y="5394959"/>
            <a:ext cx="914400" cy="274320"/>
          </a:xfrm>
          <a:prstGeom prst="rect">
            <a:avLst/>
          </a:prstGeom>
          <a:noFill/>
        </p:spPr>
        <p:txBody>
          <a:bodyPr wrap="square"/>
          <a:lstStyle/>
          <a:p>
            <a:pPr algn="r">
              <a:spcBef>
                <a:spcPts val="0"/>
              </a:spcBef>
              <a:spcAft>
                <a:spcPts val="0"/>
              </a:spcAft>
              <a:defRPr sz="1000" b="0" i="0">
                <a:solidFill>
                  <a:srgbClr val="C6922A"/>
                </a:solidFill>
                <a:latin typeface="Montserrat"/>
              </a:defRPr>
            </a:pPr>
            <a:r>
              <a:t>2.63:1</a:t>
            </a:r>
          </a:p>
        </p:txBody>
      </p:sp>
      <p:sp>
        <p:nvSpPr>
          <p:cNvPr id="23" name="Rectangle 22"/>
          <p:cNvSpPr/>
          <p:nvPr/>
        </p:nvSpPr>
        <p:spPr>
          <a:xfrm>
            <a:off x="6217920" y="2103120"/>
            <a:ext cx="5029200" cy="82296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2240279"/>
            <a:ext cx="2286000" cy="274320"/>
          </a:xfrm>
          <a:prstGeom prst="rect">
            <a:avLst/>
          </a:prstGeom>
          <a:noFill/>
        </p:spPr>
        <p:txBody>
          <a:bodyPr wrap="square"/>
          <a:lstStyle/>
          <a:p>
            <a:pPr algn="l">
              <a:spcBef>
                <a:spcPts val="0"/>
              </a:spcBef>
              <a:spcAft>
                <a:spcPts val="0"/>
              </a:spcAft>
              <a:defRPr sz="1100" b="1" i="0">
                <a:solidFill>
                  <a:srgbClr val="2D2D2D"/>
                </a:solidFill>
                <a:latin typeface="Montserrat"/>
              </a:defRPr>
            </a:pPr>
            <a:r>
              <a:t>Twitter/X Post</a:t>
            </a:r>
          </a:p>
        </p:txBody>
      </p:sp>
      <p:sp>
        <p:nvSpPr>
          <p:cNvPr id="25" name="TextBox 24"/>
          <p:cNvSpPr txBox="1"/>
          <p:nvPr/>
        </p:nvSpPr>
        <p:spPr>
          <a:xfrm>
            <a:off x="6400800" y="2514600"/>
            <a:ext cx="1828800" cy="274320"/>
          </a:xfrm>
          <a:prstGeom prst="rect">
            <a:avLst/>
          </a:prstGeom>
          <a:noFill/>
        </p:spPr>
        <p:txBody>
          <a:bodyPr wrap="square"/>
          <a:lstStyle/>
          <a:p>
            <a:pPr algn="l">
              <a:spcBef>
                <a:spcPts val="0"/>
              </a:spcBef>
              <a:spcAft>
                <a:spcPts val="0"/>
              </a:spcAft>
              <a:defRPr sz="1000" b="0" i="0">
                <a:solidFill>
                  <a:srgbClr val="6B635B"/>
                </a:solidFill>
                <a:latin typeface="Montserrat"/>
              </a:defRPr>
            </a:pPr>
            <a:r>
              <a:t>1200 × 675 px</a:t>
            </a:r>
          </a:p>
        </p:txBody>
      </p:sp>
      <p:sp>
        <p:nvSpPr>
          <p:cNvPr id="26" name="TextBox 25"/>
          <p:cNvSpPr txBox="1"/>
          <p:nvPr/>
        </p:nvSpPr>
        <p:spPr>
          <a:xfrm>
            <a:off x="10149840" y="2377439"/>
            <a:ext cx="914400" cy="274320"/>
          </a:xfrm>
          <a:prstGeom prst="rect">
            <a:avLst/>
          </a:prstGeom>
          <a:noFill/>
        </p:spPr>
        <p:txBody>
          <a:bodyPr wrap="square"/>
          <a:lstStyle/>
          <a:p>
            <a:pPr algn="r">
              <a:spcBef>
                <a:spcPts val="0"/>
              </a:spcBef>
              <a:spcAft>
                <a:spcPts val="0"/>
              </a:spcAft>
              <a:defRPr sz="1000" b="0" i="0">
                <a:solidFill>
                  <a:srgbClr val="C6922A"/>
                </a:solidFill>
                <a:latin typeface="Montserrat"/>
              </a:defRPr>
            </a:pPr>
            <a:r>
              <a:t>16:9</a:t>
            </a:r>
          </a:p>
        </p:txBody>
      </p:sp>
      <p:sp>
        <p:nvSpPr>
          <p:cNvPr id="27" name="Rectangle 26"/>
          <p:cNvSpPr/>
          <p:nvPr/>
        </p:nvSpPr>
        <p:spPr>
          <a:xfrm>
            <a:off x="6217920" y="3108960"/>
            <a:ext cx="5029200" cy="82296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3246120"/>
            <a:ext cx="2286000" cy="274320"/>
          </a:xfrm>
          <a:prstGeom prst="rect">
            <a:avLst/>
          </a:prstGeom>
          <a:noFill/>
        </p:spPr>
        <p:txBody>
          <a:bodyPr wrap="square"/>
          <a:lstStyle/>
          <a:p>
            <a:pPr algn="l">
              <a:spcBef>
                <a:spcPts val="0"/>
              </a:spcBef>
              <a:spcAft>
                <a:spcPts val="0"/>
              </a:spcAft>
              <a:defRPr sz="1100" b="1" i="0">
                <a:solidFill>
                  <a:srgbClr val="2D2D2D"/>
                </a:solidFill>
                <a:latin typeface="Montserrat"/>
              </a:defRPr>
            </a:pPr>
            <a:r>
              <a:t>LinkedIn Post</a:t>
            </a:r>
          </a:p>
        </p:txBody>
      </p:sp>
      <p:sp>
        <p:nvSpPr>
          <p:cNvPr id="29" name="TextBox 28"/>
          <p:cNvSpPr txBox="1"/>
          <p:nvPr/>
        </p:nvSpPr>
        <p:spPr>
          <a:xfrm>
            <a:off x="6400800" y="3520440"/>
            <a:ext cx="1828800" cy="274320"/>
          </a:xfrm>
          <a:prstGeom prst="rect">
            <a:avLst/>
          </a:prstGeom>
          <a:noFill/>
        </p:spPr>
        <p:txBody>
          <a:bodyPr wrap="square"/>
          <a:lstStyle/>
          <a:p>
            <a:pPr algn="l">
              <a:spcBef>
                <a:spcPts val="0"/>
              </a:spcBef>
              <a:spcAft>
                <a:spcPts val="0"/>
              </a:spcAft>
              <a:defRPr sz="1000" b="0" i="0">
                <a:solidFill>
                  <a:srgbClr val="6B635B"/>
                </a:solidFill>
                <a:latin typeface="Montserrat"/>
              </a:defRPr>
            </a:pPr>
            <a:r>
              <a:t>1200 × 627 px</a:t>
            </a:r>
          </a:p>
        </p:txBody>
      </p:sp>
      <p:sp>
        <p:nvSpPr>
          <p:cNvPr id="30" name="TextBox 29"/>
          <p:cNvSpPr txBox="1"/>
          <p:nvPr/>
        </p:nvSpPr>
        <p:spPr>
          <a:xfrm>
            <a:off x="10149840" y="3383279"/>
            <a:ext cx="914400" cy="274320"/>
          </a:xfrm>
          <a:prstGeom prst="rect">
            <a:avLst/>
          </a:prstGeom>
          <a:noFill/>
        </p:spPr>
        <p:txBody>
          <a:bodyPr wrap="square"/>
          <a:lstStyle/>
          <a:p>
            <a:pPr algn="r">
              <a:spcBef>
                <a:spcPts val="0"/>
              </a:spcBef>
              <a:spcAft>
                <a:spcPts val="0"/>
              </a:spcAft>
              <a:defRPr sz="1000" b="0" i="0">
                <a:solidFill>
                  <a:srgbClr val="C6922A"/>
                </a:solidFill>
                <a:latin typeface="Montserrat"/>
              </a:defRPr>
            </a:pPr>
            <a:r>
              <a:t>1.91:1</a:t>
            </a:r>
          </a:p>
        </p:txBody>
      </p:sp>
      <p:sp>
        <p:nvSpPr>
          <p:cNvPr id="31" name="Rectangle 30"/>
          <p:cNvSpPr/>
          <p:nvPr/>
        </p:nvSpPr>
        <p:spPr>
          <a:xfrm>
            <a:off x="6217920" y="4114800"/>
            <a:ext cx="5029200" cy="82296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251960"/>
            <a:ext cx="2286000" cy="274320"/>
          </a:xfrm>
          <a:prstGeom prst="rect">
            <a:avLst/>
          </a:prstGeom>
          <a:noFill/>
        </p:spPr>
        <p:txBody>
          <a:bodyPr wrap="square"/>
          <a:lstStyle/>
          <a:p>
            <a:pPr algn="l">
              <a:spcBef>
                <a:spcPts val="0"/>
              </a:spcBef>
              <a:spcAft>
                <a:spcPts val="0"/>
              </a:spcAft>
              <a:defRPr sz="1100" b="1" i="0">
                <a:solidFill>
                  <a:srgbClr val="2D2D2D"/>
                </a:solidFill>
                <a:latin typeface="Montserrat"/>
              </a:defRPr>
            </a:pPr>
            <a:r>
              <a:t>Pinterest Pin</a:t>
            </a:r>
          </a:p>
        </p:txBody>
      </p:sp>
      <p:sp>
        <p:nvSpPr>
          <p:cNvPr id="33" name="TextBox 32"/>
          <p:cNvSpPr txBox="1"/>
          <p:nvPr/>
        </p:nvSpPr>
        <p:spPr>
          <a:xfrm>
            <a:off x="6400800" y="4526280"/>
            <a:ext cx="1828800" cy="274320"/>
          </a:xfrm>
          <a:prstGeom prst="rect">
            <a:avLst/>
          </a:prstGeom>
          <a:noFill/>
        </p:spPr>
        <p:txBody>
          <a:bodyPr wrap="square"/>
          <a:lstStyle/>
          <a:p>
            <a:pPr algn="l">
              <a:spcBef>
                <a:spcPts val="0"/>
              </a:spcBef>
              <a:spcAft>
                <a:spcPts val="0"/>
              </a:spcAft>
              <a:defRPr sz="1000" b="0" i="0">
                <a:solidFill>
                  <a:srgbClr val="6B635B"/>
                </a:solidFill>
                <a:latin typeface="Montserrat"/>
              </a:defRPr>
            </a:pPr>
            <a:r>
              <a:t>1000 × 1500 px</a:t>
            </a:r>
          </a:p>
        </p:txBody>
      </p:sp>
      <p:sp>
        <p:nvSpPr>
          <p:cNvPr id="34" name="TextBox 33"/>
          <p:cNvSpPr txBox="1"/>
          <p:nvPr/>
        </p:nvSpPr>
        <p:spPr>
          <a:xfrm>
            <a:off x="10149840" y="4389120"/>
            <a:ext cx="914400" cy="274320"/>
          </a:xfrm>
          <a:prstGeom prst="rect">
            <a:avLst/>
          </a:prstGeom>
          <a:noFill/>
        </p:spPr>
        <p:txBody>
          <a:bodyPr wrap="square"/>
          <a:lstStyle/>
          <a:p>
            <a:pPr algn="r">
              <a:spcBef>
                <a:spcPts val="0"/>
              </a:spcBef>
              <a:spcAft>
                <a:spcPts val="0"/>
              </a:spcAft>
              <a:defRPr sz="1000" b="0" i="0">
                <a:solidFill>
                  <a:srgbClr val="C6922A"/>
                </a:solidFill>
                <a:latin typeface="Montserrat"/>
              </a:defRPr>
            </a:pPr>
            <a:r>
              <a:t>2:3</a:t>
            </a:r>
          </a:p>
        </p:txBody>
      </p:sp>
      <p:sp>
        <p:nvSpPr>
          <p:cNvPr id="35" name="Rectangle 34"/>
          <p:cNvSpPr/>
          <p:nvPr/>
        </p:nvSpPr>
        <p:spPr>
          <a:xfrm>
            <a:off x="6217920" y="5120640"/>
            <a:ext cx="5029200" cy="822960"/>
          </a:xfrm>
          <a:prstGeom prst="rect">
            <a:avLst/>
          </a:prstGeom>
          <a:solidFill>
            <a:srgbClr val="FFFFFF"/>
          </a:solidFill>
          <a:ln>
            <a:solidFill>
              <a:srgbClr val="6B6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0" y="5257800"/>
            <a:ext cx="2286000" cy="274320"/>
          </a:xfrm>
          <a:prstGeom prst="rect">
            <a:avLst/>
          </a:prstGeom>
          <a:noFill/>
        </p:spPr>
        <p:txBody>
          <a:bodyPr wrap="square"/>
          <a:lstStyle/>
          <a:p>
            <a:pPr algn="l">
              <a:spcBef>
                <a:spcPts val="0"/>
              </a:spcBef>
              <a:spcAft>
                <a:spcPts val="0"/>
              </a:spcAft>
              <a:defRPr sz="1100" b="1" i="0">
                <a:solidFill>
                  <a:srgbClr val="2D2D2D"/>
                </a:solidFill>
                <a:latin typeface="Montserrat"/>
              </a:defRPr>
            </a:pPr>
            <a:r>
              <a:t>YouTube Thumbnail</a:t>
            </a:r>
          </a:p>
        </p:txBody>
      </p:sp>
      <p:sp>
        <p:nvSpPr>
          <p:cNvPr id="37" name="TextBox 36"/>
          <p:cNvSpPr txBox="1"/>
          <p:nvPr/>
        </p:nvSpPr>
        <p:spPr>
          <a:xfrm>
            <a:off x="6400800" y="5532120"/>
            <a:ext cx="1828800" cy="274320"/>
          </a:xfrm>
          <a:prstGeom prst="rect">
            <a:avLst/>
          </a:prstGeom>
          <a:noFill/>
        </p:spPr>
        <p:txBody>
          <a:bodyPr wrap="square"/>
          <a:lstStyle/>
          <a:p>
            <a:pPr algn="l">
              <a:spcBef>
                <a:spcPts val="0"/>
              </a:spcBef>
              <a:spcAft>
                <a:spcPts val="0"/>
              </a:spcAft>
              <a:defRPr sz="1000" b="0" i="0">
                <a:solidFill>
                  <a:srgbClr val="6B635B"/>
                </a:solidFill>
                <a:latin typeface="Montserrat"/>
              </a:defRPr>
            </a:pPr>
            <a:r>
              <a:t>1280 × 720 px</a:t>
            </a:r>
          </a:p>
        </p:txBody>
      </p:sp>
      <p:sp>
        <p:nvSpPr>
          <p:cNvPr id="38" name="TextBox 37"/>
          <p:cNvSpPr txBox="1"/>
          <p:nvPr/>
        </p:nvSpPr>
        <p:spPr>
          <a:xfrm>
            <a:off x="10149840" y="5394959"/>
            <a:ext cx="914400" cy="274320"/>
          </a:xfrm>
          <a:prstGeom prst="rect">
            <a:avLst/>
          </a:prstGeom>
          <a:noFill/>
        </p:spPr>
        <p:txBody>
          <a:bodyPr wrap="square"/>
          <a:lstStyle/>
          <a:p>
            <a:pPr algn="r">
              <a:spcBef>
                <a:spcPts val="0"/>
              </a:spcBef>
              <a:spcAft>
                <a:spcPts val="0"/>
              </a:spcAft>
              <a:defRPr sz="1000" b="0" i="0">
                <a:solidFill>
                  <a:srgbClr val="C6922A"/>
                </a:solidFill>
                <a:latin typeface="Montserrat"/>
              </a:defRPr>
            </a:pPr>
            <a:r>
              <a:t>16:9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45720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Instagram Post — 1080 × 1080 px</a:t>
            </a:r>
          </a:p>
        </p:txBody>
      </p:sp>
      <p:sp>
        <p:nvSpPr>
          <p:cNvPr id="4" name="Rectangle 3"/>
          <p:cNvSpPr/>
          <p:nvPr/>
        </p:nvSpPr>
        <p:spPr>
          <a:xfrm>
            <a:off x="731520" y="1097280"/>
            <a:ext cx="3200400" cy="32004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3383280"/>
            <a:ext cx="3200400" cy="9144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920240"/>
            <a:ext cx="3200400" cy="457200"/>
          </a:xfrm>
          <a:prstGeom prst="rect">
            <a:avLst/>
          </a:prstGeom>
          <a:noFill/>
        </p:spPr>
        <p:txBody>
          <a:bodyPr wrap="square"/>
          <a:lstStyle/>
          <a:p>
            <a:pPr algn="ctr">
              <a:spcBef>
                <a:spcPts val="0"/>
              </a:spcBef>
              <a:spcAft>
                <a:spcPts val="0"/>
              </a:spcAft>
              <a:defRPr sz="1100" b="0" i="0">
                <a:solidFill>
                  <a:srgbClr val="6B635B"/>
                </a:solidFill>
                <a:latin typeface="Montserrat"/>
              </a:defRPr>
            </a:pPr>
            <a:r>
              <a:t>[ Product Image ]</a:t>
            </a:r>
          </a:p>
        </p:txBody>
      </p:sp>
      <p:sp>
        <p:nvSpPr>
          <p:cNvPr id="7" name="TextBox 6"/>
          <p:cNvSpPr txBox="1"/>
          <p:nvPr/>
        </p:nvSpPr>
        <p:spPr>
          <a:xfrm>
            <a:off x="731520" y="3566160"/>
            <a:ext cx="3200400" cy="457200"/>
          </a:xfrm>
          <a:prstGeom prst="rect">
            <a:avLst/>
          </a:prstGeom>
          <a:noFill/>
        </p:spPr>
        <p:txBody>
          <a:bodyPr wrap="square"/>
          <a:lstStyle/>
          <a:p>
            <a:pPr algn="ctr">
              <a:spcBef>
                <a:spcPts val="0"/>
              </a:spcBef>
              <a:spcAft>
                <a:spcPts val="0"/>
              </a:spcAft>
              <a:defRPr sz="1600" b="0" i="0">
                <a:solidFill>
                  <a:srgbClr val="2D2D2D"/>
                </a:solidFill>
                <a:latin typeface="Didot"/>
              </a:defRPr>
            </a:pPr>
            <a:r>
              <a:t>ROSEBELLA</a:t>
            </a:r>
          </a:p>
        </p:txBody>
      </p:sp>
      <p:sp>
        <p:nvSpPr>
          <p:cNvPr id="8" name="TextBox 7"/>
          <p:cNvSpPr txBox="1"/>
          <p:nvPr/>
        </p:nvSpPr>
        <p:spPr>
          <a:xfrm>
            <a:off x="731520" y="4389120"/>
            <a:ext cx="3200400" cy="274320"/>
          </a:xfrm>
          <a:prstGeom prst="rect">
            <a:avLst/>
          </a:prstGeom>
          <a:noFill/>
        </p:spPr>
        <p:txBody>
          <a:bodyPr wrap="square"/>
          <a:lstStyle/>
          <a:p>
            <a:pPr algn="ctr">
              <a:spcBef>
                <a:spcPts val="0"/>
              </a:spcBef>
              <a:spcAft>
                <a:spcPts val="0"/>
              </a:spcAft>
              <a:defRPr sz="900" b="0" i="0">
                <a:solidFill>
                  <a:srgbClr val="F5F0C2"/>
                </a:solidFill>
                <a:latin typeface="Montserrat"/>
              </a:defRPr>
            </a:pPr>
            <a:r>
              <a:t>Product Showcase</a:t>
            </a:r>
          </a:p>
        </p:txBody>
      </p:sp>
      <p:sp>
        <p:nvSpPr>
          <p:cNvPr id="9" name="Rectangle 8"/>
          <p:cNvSpPr/>
          <p:nvPr/>
        </p:nvSpPr>
        <p:spPr>
          <a:xfrm>
            <a:off x="4480560" y="1097280"/>
            <a:ext cx="3200400" cy="32004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0" y="2011680"/>
            <a:ext cx="2651760" cy="1371600"/>
          </a:xfrm>
          <a:prstGeom prst="rect">
            <a:avLst/>
          </a:prstGeom>
          <a:noFill/>
        </p:spPr>
        <p:txBody>
          <a:bodyPr wrap="square"/>
          <a:lstStyle/>
          <a:p>
            <a:pPr algn="ctr">
              <a:spcBef>
                <a:spcPts val="0"/>
              </a:spcBef>
              <a:spcAft>
                <a:spcPts val="0"/>
              </a:spcAft>
              <a:defRPr sz="1400" b="0" i="1">
                <a:solidFill>
                  <a:srgbClr val="2D2D2D"/>
                </a:solidFill>
                <a:latin typeface="Didot"/>
              </a:defRPr>
            </a:pPr>
            <a:r>
              <a:t>"Deliver elegance to someone special."</a:t>
            </a:r>
          </a:p>
        </p:txBody>
      </p:sp>
      <p:sp>
        <p:nvSpPr>
          <p:cNvPr id="11" name="TextBox 10"/>
          <p:cNvSpPr txBox="1"/>
          <p:nvPr/>
        </p:nvSpPr>
        <p:spPr>
          <a:xfrm>
            <a:off x="4480560" y="4389120"/>
            <a:ext cx="3200400" cy="274320"/>
          </a:xfrm>
          <a:prstGeom prst="rect">
            <a:avLst/>
          </a:prstGeom>
          <a:noFill/>
        </p:spPr>
        <p:txBody>
          <a:bodyPr wrap="square"/>
          <a:lstStyle/>
          <a:p>
            <a:pPr algn="ctr">
              <a:spcBef>
                <a:spcPts val="0"/>
              </a:spcBef>
              <a:spcAft>
                <a:spcPts val="0"/>
              </a:spcAft>
              <a:defRPr sz="900" b="0" i="0">
                <a:solidFill>
                  <a:srgbClr val="F5F0C2"/>
                </a:solidFill>
                <a:latin typeface="Montserrat"/>
              </a:defRPr>
            </a:pPr>
            <a:r>
              <a:t>Quote / Message</a:t>
            </a:r>
          </a:p>
        </p:txBody>
      </p:sp>
      <p:sp>
        <p:nvSpPr>
          <p:cNvPr id="12" name="Rectangle 11"/>
          <p:cNvSpPr/>
          <p:nvPr/>
        </p:nvSpPr>
        <p:spPr>
          <a:xfrm>
            <a:off x="8229600" y="1097280"/>
            <a:ext cx="3200400" cy="3200400"/>
          </a:xfrm>
          <a:prstGeom prst="rect">
            <a:avLst/>
          </a:prstGeom>
          <a:solidFill>
            <a:srgbClr val="2D2D2D"/>
          </a:solidFill>
          <a:ln>
            <a:solidFill>
              <a:srgbClr val="C69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0" y="1645920"/>
            <a:ext cx="3200400" cy="365760"/>
          </a:xfrm>
          <a:prstGeom prst="rect">
            <a:avLst/>
          </a:prstGeom>
          <a:noFill/>
        </p:spPr>
        <p:txBody>
          <a:bodyPr wrap="square"/>
          <a:lstStyle/>
          <a:p>
            <a:pPr algn="ctr">
              <a:spcBef>
                <a:spcPts val="0"/>
              </a:spcBef>
              <a:spcAft>
                <a:spcPts val="0"/>
              </a:spcAft>
              <a:defRPr sz="1000" b="0" i="0">
                <a:solidFill>
                  <a:srgbClr val="C6922A"/>
                </a:solidFill>
                <a:latin typeface="Montserrat"/>
              </a:defRPr>
            </a:pPr>
            <a:r>
              <a:t>SPECIAL</a:t>
            </a:r>
          </a:p>
        </p:txBody>
      </p:sp>
      <p:sp>
        <p:nvSpPr>
          <p:cNvPr id="14" name="TextBox 13"/>
          <p:cNvSpPr txBox="1"/>
          <p:nvPr/>
        </p:nvSpPr>
        <p:spPr>
          <a:xfrm>
            <a:off x="8229600" y="2011680"/>
            <a:ext cx="3200400" cy="548640"/>
          </a:xfrm>
          <a:prstGeom prst="rect">
            <a:avLst/>
          </a:prstGeom>
          <a:noFill/>
        </p:spPr>
        <p:txBody>
          <a:bodyPr wrap="square"/>
          <a:lstStyle/>
          <a:p>
            <a:pPr algn="ctr">
              <a:spcBef>
                <a:spcPts val="0"/>
              </a:spcBef>
              <a:spcAft>
                <a:spcPts val="0"/>
              </a:spcAft>
              <a:defRPr sz="2400" b="0" i="0">
                <a:solidFill>
                  <a:srgbClr val="FFFFFF"/>
                </a:solidFill>
                <a:latin typeface="Didot"/>
              </a:defRPr>
            </a:pPr>
            <a:r>
              <a:t>Valentine's</a:t>
            </a:r>
          </a:p>
        </p:txBody>
      </p:sp>
      <p:sp>
        <p:nvSpPr>
          <p:cNvPr id="15" name="TextBox 14"/>
          <p:cNvSpPr txBox="1"/>
          <p:nvPr/>
        </p:nvSpPr>
        <p:spPr>
          <a:xfrm>
            <a:off x="8229600" y="2560320"/>
            <a:ext cx="3200400" cy="365760"/>
          </a:xfrm>
          <a:prstGeom prst="rect">
            <a:avLst/>
          </a:prstGeom>
          <a:noFill/>
        </p:spPr>
        <p:txBody>
          <a:bodyPr wrap="square"/>
          <a:lstStyle/>
          <a:p>
            <a:pPr algn="ctr">
              <a:spcBef>
                <a:spcPts val="0"/>
              </a:spcBef>
              <a:spcAft>
                <a:spcPts val="0"/>
              </a:spcAft>
              <a:defRPr sz="1200" b="0" i="0">
                <a:solidFill>
                  <a:srgbClr val="C6922A"/>
                </a:solidFill>
                <a:latin typeface="Montserrat"/>
              </a:defRPr>
            </a:pPr>
            <a:r>
              <a:t>COLLECTION</a:t>
            </a:r>
          </a:p>
        </p:txBody>
      </p:sp>
      <p:sp>
        <p:nvSpPr>
          <p:cNvPr id="16" name="Rectangle 15"/>
          <p:cNvSpPr/>
          <p:nvPr/>
        </p:nvSpPr>
        <p:spPr>
          <a:xfrm>
            <a:off x="9144000" y="3108960"/>
            <a:ext cx="1371600" cy="4572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0" y="3154680"/>
            <a:ext cx="1371600" cy="365760"/>
          </a:xfrm>
          <a:prstGeom prst="rect">
            <a:avLst/>
          </a:prstGeom>
          <a:noFill/>
        </p:spPr>
        <p:txBody>
          <a:bodyPr wrap="square"/>
          <a:lstStyle/>
          <a:p>
            <a:pPr algn="ctr">
              <a:spcBef>
                <a:spcPts val="0"/>
              </a:spcBef>
              <a:spcAft>
                <a:spcPts val="0"/>
              </a:spcAft>
              <a:defRPr sz="900" b="0" i="0">
                <a:solidFill>
                  <a:srgbClr val="2D2D2D"/>
                </a:solidFill>
                <a:latin typeface="Montserrat"/>
              </a:defRPr>
            </a:pPr>
            <a:r>
              <a:t>Shop Now</a:t>
            </a:r>
          </a:p>
        </p:txBody>
      </p:sp>
      <p:sp>
        <p:nvSpPr>
          <p:cNvPr id="18" name="TextBox 17"/>
          <p:cNvSpPr txBox="1"/>
          <p:nvPr/>
        </p:nvSpPr>
        <p:spPr>
          <a:xfrm>
            <a:off x="8229600" y="4389120"/>
            <a:ext cx="3200400" cy="274320"/>
          </a:xfrm>
          <a:prstGeom prst="rect">
            <a:avLst/>
          </a:prstGeom>
          <a:noFill/>
        </p:spPr>
        <p:txBody>
          <a:bodyPr wrap="square"/>
          <a:lstStyle/>
          <a:p>
            <a:pPr algn="ctr">
              <a:spcBef>
                <a:spcPts val="0"/>
              </a:spcBef>
              <a:spcAft>
                <a:spcPts val="0"/>
              </a:spcAft>
              <a:defRPr sz="900" b="0" i="0">
                <a:solidFill>
                  <a:srgbClr val="F5F0C2"/>
                </a:solidFill>
                <a:latin typeface="Montserrat"/>
              </a:defRPr>
            </a:pPr>
            <a:r>
              <a:t>Promotional</a:t>
            </a:r>
          </a:p>
        </p:txBody>
      </p:sp>
      <p:sp>
        <p:nvSpPr>
          <p:cNvPr id="19" name="TextBox 18"/>
          <p:cNvSpPr txBox="1"/>
          <p:nvPr/>
        </p:nvSpPr>
        <p:spPr>
          <a:xfrm>
            <a:off x="731520" y="4937760"/>
            <a:ext cx="10515600" cy="365760"/>
          </a:xfrm>
          <a:prstGeom prst="rect">
            <a:avLst/>
          </a:prstGeom>
          <a:noFill/>
        </p:spPr>
        <p:txBody>
          <a:bodyPr wrap="square"/>
          <a:lstStyle/>
          <a:p>
            <a:pPr algn="l">
              <a:spcBef>
                <a:spcPts val="0"/>
              </a:spcBef>
              <a:spcAft>
                <a:spcPts val="0"/>
              </a:spcAft>
              <a:defRPr sz="1100" b="1" i="0">
                <a:solidFill>
                  <a:srgbClr val="C6922A"/>
                </a:solidFill>
                <a:latin typeface="Montserrat"/>
              </a:defRPr>
            </a:pPr>
            <a:r>
              <a:t>DESIGN GUIDELINES</a:t>
            </a:r>
          </a:p>
        </p:txBody>
      </p:sp>
      <p:sp>
        <p:nvSpPr>
          <p:cNvPr id="20" name="TextBox 19"/>
          <p:cNvSpPr txBox="1"/>
          <p:nvPr/>
        </p:nvSpPr>
        <p:spPr>
          <a:xfrm>
            <a:off x="731520" y="5303520"/>
            <a:ext cx="10515600" cy="914400"/>
          </a:xfrm>
          <a:prstGeom prst="rect">
            <a:avLst/>
          </a:prstGeom>
          <a:noFill/>
        </p:spPr>
        <p:txBody>
          <a:bodyPr wrap="square"/>
          <a:lstStyle/>
          <a:p>
            <a:pPr algn="l">
              <a:spcBef>
                <a:spcPts val="0"/>
              </a:spcBef>
              <a:spcAft>
                <a:spcPts val="0"/>
              </a:spcAft>
              <a:defRPr sz="1200" b="0" i="0">
                <a:solidFill>
                  <a:srgbClr val="F5F0C2"/>
                </a:solidFill>
                <a:latin typeface="Garamond"/>
              </a:defRPr>
            </a:pPr>
            <a:r>
              <a:t>• Keep text minimal — let visuals speak  • Logo placement: bottom right or center  • Use brand colors consistently  • Maintain visual hierarchy  • Leave breathing room around elements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45720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Instagram Story — 1080 × 1920 px</a:t>
            </a:r>
          </a:p>
        </p:txBody>
      </p:sp>
      <p:sp>
        <p:nvSpPr>
          <p:cNvPr id="4" name="Rectangle 3"/>
          <p:cNvSpPr/>
          <p:nvPr/>
        </p:nvSpPr>
        <p:spPr>
          <a:xfrm>
            <a:off x="731520" y="822960"/>
            <a:ext cx="2834640" cy="50292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97280"/>
            <a:ext cx="2834640" cy="274320"/>
          </a:xfrm>
          <a:prstGeom prst="rect">
            <a:avLst/>
          </a:prstGeom>
          <a:noFill/>
        </p:spPr>
        <p:txBody>
          <a:bodyPr wrap="square"/>
          <a:lstStyle/>
          <a:p>
            <a:pPr algn="ctr">
              <a:spcBef>
                <a:spcPts val="0"/>
              </a:spcBef>
              <a:spcAft>
                <a:spcPts val="0"/>
              </a:spcAft>
              <a:defRPr sz="1400" b="0" i="0">
                <a:solidFill>
                  <a:srgbClr val="C6922A"/>
                </a:solidFill>
                <a:latin typeface="Didot"/>
              </a:defRPr>
            </a:pPr>
            <a:r>
              <a:rPr dirty="0">
                <a:latin typeface="Garamond" panose="02020404030301010803" pitchFamily="18" charset="0"/>
              </a:rPr>
              <a:t>ROSEBELLA</a:t>
            </a:r>
          </a:p>
        </p:txBody>
      </p:sp>
      <p:sp>
        <p:nvSpPr>
          <p:cNvPr id="6" name="TextBox 5"/>
          <p:cNvSpPr txBox="1"/>
          <p:nvPr/>
        </p:nvSpPr>
        <p:spPr>
          <a:xfrm>
            <a:off x="731520" y="2560320"/>
            <a:ext cx="2834640" cy="914400"/>
          </a:xfrm>
          <a:prstGeom prst="rect">
            <a:avLst/>
          </a:prstGeom>
          <a:noFill/>
        </p:spPr>
        <p:txBody>
          <a:bodyPr wrap="square"/>
          <a:lstStyle/>
          <a:p>
            <a:pPr algn="ctr">
              <a:spcBef>
                <a:spcPts val="0"/>
              </a:spcBef>
              <a:spcAft>
                <a:spcPts val="0"/>
              </a:spcAft>
              <a:defRPr sz="1000" b="0" i="0">
                <a:solidFill>
                  <a:srgbClr val="6B635B"/>
                </a:solidFill>
                <a:latin typeface="Montserrat"/>
              </a:defRPr>
            </a:pPr>
            <a:r>
              <a:t>[ Full-bleed Image ]</a:t>
            </a:r>
          </a:p>
        </p:txBody>
      </p:sp>
      <p:sp>
        <p:nvSpPr>
          <p:cNvPr id="7" name="Rectangle 6"/>
          <p:cNvSpPr/>
          <p:nvPr/>
        </p:nvSpPr>
        <p:spPr>
          <a:xfrm>
            <a:off x="1188720" y="5029200"/>
            <a:ext cx="1920240" cy="4572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5074920"/>
            <a:ext cx="1920240" cy="365760"/>
          </a:xfrm>
          <a:prstGeom prst="rect">
            <a:avLst/>
          </a:prstGeom>
          <a:noFill/>
        </p:spPr>
        <p:txBody>
          <a:bodyPr wrap="square"/>
          <a:lstStyle/>
          <a:p>
            <a:pPr algn="ctr">
              <a:spcBef>
                <a:spcPts val="0"/>
              </a:spcBef>
              <a:spcAft>
                <a:spcPts val="0"/>
              </a:spcAft>
              <a:defRPr sz="1000" b="0" i="0">
                <a:solidFill>
                  <a:srgbClr val="2D2D2D"/>
                </a:solidFill>
                <a:latin typeface="Montserrat"/>
              </a:defRPr>
            </a:pPr>
            <a:r>
              <a:t>Swipe Up</a:t>
            </a:r>
          </a:p>
        </p:txBody>
      </p:sp>
      <p:sp>
        <p:nvSpPr>
          <p:cNvPr id="9" name="TextBox 8"/>
          <p:cNvSpPr txBox="1"/>
          <p:nvPr/>
        </p:nvSpPr>
        <p:spPr>
          <a:xfrm>
            <a:off x="731520" y="5943600"/>
            <a:ext cx="2834640" cy="274320"/>
          </a:xfrm>
          <a:prstGeom prst="rect">
            <a:avLst/>
          </a:prstGeom>
          <a:noFill/>
        </p:spPr>
        <p:txBody>
          <a:bodyPr wrap="square"/>
          <a:lstStyle/>
          <a:p>
            <a:pPr algn="ctr">
              <a:spcBef>
                <a:spcPts val="0"/>
              </a:spcBef>
              <a:spcAft>
                <a:spcPts val="0"/>
              </a:spcAft>
              <a:defRPr sz="900" b="0" i="0">
                <a:solidFill>
                  <a:srgbClr val="2D2D2D"/>
                </a:solidFill>
                <a:latin typeface="Montserrat"/>
              </a:defRPr>
            </a:pPr>
            <a:r>
              <a:t>Story with CTA</a:t>
            </a:r>
          </a:p>
        </p:txBody>
      </p:sp>
      <p:sp>
        <p:nvSpPr>
          <p:cNvPr id="10" name="Rectangle 9"/>
          <p:cNvSpPr/>
          <p:nvPr/>
        </p:nvSpPr>
        <p:spPr>
          <a:xfrm>
            <a:off x="3931920" y="822960"/>
            <a:ext cx="2834640" cy="502920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31920" y="1828800"/>
            <a:ext cx="2834640" cy="365760"/>
          </a:xfrm>
          <a:prstGeom prst="rect">
            <a:avLst/>
          </a:prstGeom>
          <a:noFill/>
        </p:spPr>
        <p:txBody>
          <a:bodyPr wrap="square"/>
          <a:lstStyle/>
          <a:p>
            <a:pPr algn="ctr">
              <a:spcBef>
                <a:spcPts val="0"/>
              </a:spcBef>
              <a:spcAft>
                <a:spcPts val="0"/>
              </a:spcAft>
              <a:defRPr sz="1200" b="0" i="0">
                <a:solidFill>
                  <a:srgbClr val="2D2D2D"/>
                </a:solidFill>
                <a:latin typeface="Montserrat"/>
              </a:defRPr>
            </a:pPr>
            <a:r>
              <a:t>NEW</a:t>
            </a:r>
          </a:p>
        </p:txBody>
      </p:sp>
      <p:sp>
        <p:nvSpPr>
          <p:cNvPr id="12" name="TextBox 11"/>
          <p:cNvSpPr txBox="1"/>
          <p:nvPr/>
        </p:nvSpPr>
        <p:spPr>
          <a:xfrm>
            <a:off x="3931920" y="2286000"/>
            <a:ext cx="2834640" cy="548640"/>
          </a:xfrm>
          <a:prstGeom prst="rect">
            <a:avLst/>
          </a:prstGeom>
          <a:noFill/>
        </p:spPr>
        <p:txBody>
          <a:bodyPr wrap="square"/>
          <a:lstStyle/>
          <a:p>
            <a:pPr algn="ctr">
              <a:spcBef>
                <a:spcPts val="0"/>
              </a:spcBef>
              <a:spcAft>
                <a:spcPts val="0"/>
              </a:spcAft>
              <a:defRPr sz="2800" b="0" i="0">
                <a:solidFill>
                  <a:srgbClr val="2D2D2D"/>
                </a:solidFill>
                <a:latin typeface="Didot"/>
              </a:defRPr>
            </a:pPr>
            <a:r>
              <a:rPr dirty="0"/>
              <a:t>Arrival</a:t>
            </a:r>
          </a:p>
        </p:txBody>
      </p:sp>
      <p:sp>
        <p:nvSpPr>
          <p:cNvPr id="13" name="TextBox 12"/>
          <p:cNvSpPr txBox="1"/>
          <p:nvPr/>
        </p:nvSpPr>
        <p:spPr>
          <a:xfrm>
            <a:off x="3931920" y="3474720"/>
            <a:ext cx="2834640" cy="731520"/>
          </a:xfrm>
          <a:prstGeom prst="rect">
            <a:avLst/>
          </a:prstGeom>
          <a:noFill/>
        </p:spPr>
        <p:txBody>
          <a:bodyPr wrap="square"/>
          <a:lstStyle/>
          <a:p>
            <a:pPr algn="ctr">
              <a:spcBef>
                <a:spcPts val="0"/>
              </a:spcBef>
              <a:spcAft>
                <a:spcPts val="0"/>
              </a:spcAft>
              <a:defRPr sz="1000" b="0" i="0">
                <a:solidFill>
                  <a:srgbClr val="2D2D2D"/>
                </a:solidFill>
                <a:latin typeface="Montserrat"/>
              </a:defRPr>
            </a:pPr>
            <a:r>
              <a:t>[ Product ]</a:t>
            </a:r>
          </a:p>
        </p:txBody>
      </p:sp>
      <p:sp>
        <p:nvSpPr>
          <p:cNvPr id="14" name="TextBox 13"/>
          <p:cNvSpPr txBox="1"/>
          <p:nvPr/>
        </p:nvSpPr>
        <p:spPr>
          <a:xfrm>
            <a:off x="3931920" y="5943600"/>
            <a:ext cx="2834640" cy="274320"/>
          </a:xfrm>
          <a:prstGeom prst="rect">
            <a:avLst/>
          </a:prstGeom>
          <a:noFill/>
        </p:spPr>
        <p:txBody>
          <a:bodyPr wrap="square"/>
          <a:lstStyle/>
          <a:p>
            <a:pPr algn="ctr">
              <a:spcBef>
                <a:spcPts val="0"/>
              </a:spcBef>
              <a:spcAft>
                <a:spcPts val="0"/>
              </a:spcAft>
              <a:defRPr sz="900" b="0" i="0">
                <a:solidFill>
                  <a:srgbClr val="2D2D2D"/>
                </a:solidFill>
                <a:latin typeface="Montserrat"/>
              </a:defRPr>
            </a:pPr>
            <a:r>
              <a:t>Announcement</a:t>
            </a:r>
          </a:p>
        </p:txBody>
      </p:sp>
      <p:sp>
        <p:nvSpPr>
          <p:cNvPr id="15" name="Rectangle 14"/>
          <p:cNvSpPr/>
          <p:nvPr/>
        </p:nvSpPr>
        <p:spPr>
          <a:xfrm>
            <a:off x="7132320" y="822960"/>
            <a:ext cx="2834640" cy="5029200"/>
          </a:xfrm>
          <a:prstGeom prst="rect">
            <a:avLst/>
          </a:prstGeom>
          <a:solidFill>
            <a:srgbClr val="FAF8F0"/>
          </a:solidFill>
          <a:ln>
            <a:solidFill>
              <a:srgbClr val="C69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0" y="1097280"/>
            <a:ext cx="2834640" cy="274320"/>
          </a:xfrm>
          <a:prstGeom prst="rect">
            <a:avLst/>
          </a:prstGeom>
          <a:noFill/>
        </p:spPr>
        <p:txBody>
          <a:bodyPr wrap="square"/>
          <a:lstStyle/>
          <a:p>
            <a:pPr algn="ctr">
              <a:spcBef>
                <a:spcPts val="0"/>
              </a:spcBef>
              <a:spcAft>
                <a:spcPts val="0"/>
              </a:spcAft>
              <a:defRPr sz="1200" b="0" i="0">
                <a:solidFill>
                  <a:srgbClr val="C6922A"/>
                </a:solidFill>
                <a:latin typeface="Didot"/>
              </a:defRPr>
            </a:pPr>
            <a:r>
              <a:rPr dirty="0">
                <a:latin typeface="Garamond" panose="02020404030301010803" pitchFamily="18" charset="0"/>
              </a:rPr>
              <a:t>ROSEBELLA</a:t>
            </a:r>
          </a:p>
        </p:txBody>
      </p:sp>
      <p:sp>
        <p:nvSpPr>
          <p:cNvPr id="17" name="TextBox 16"/>
          <p:cNvSpPr txBox="1"/>
          <p:nvPr/>
        </p:nvSpPr>
        <p:spPr>
          <a:xfrm>
            <a:off x="7132320" y="2286000"/>
            <a:ext cx="2834640" cy="457200"/>
          </a:xfrm>
          <a:prstGeom prst="rect">
            <a:avLst/>
          </a:prstGeom>
          <a:noFill/>
        </p:spPr>
        <p:txBody>
          <a:bodyPr wrap="square"/>
          <a:lstStyle/>
          <a:p>
            <a:pPr algn="ctr">
              <a:spcBef>
                <a:spcPts val="0"/>
              </a:spcBef>
              <a:spcAft>
                <a:spcPts val="0"/>
              </a:spcAft>
              <a:defRPr sz="1200" b="0" i="1">
                <a:solidFill>
                  <a:srgbClr val="2D2D2D"/>
                </a:solidFill>
                <a:latin typeface="Garamond"/>
              </a:defRPr>
            </a:pPr>
            <a:r>
              <a:t>"Thank you for choosing us."</a:t>
            </a:r>
          </a:p>
        </p:txBody>
      </p:sp>
      <p:sp>
        <p:nvSpPr>
          <p:cNvPr id="18" name="TextBox 17"/>
          <p:cNvSpPr txBox="1"/>
          <p:nvPr/>
        </p:nvSpPr>
        <p:spPr>
          <a:xfrm>
            <a:off x="7132320" y="3200400"/>
            <a:ext cx="2834640" cy="914400"/>
          </a:xfrm>
          <a:prstGeom prst="rect">
            <a:avLst/>
          </a:prstGeom>
          <a:noFill/>
        </p:spPr>
        <p:txBody>
          <a:bodyPr wrap="square"/>
          <a:lstStyle/>
          <a:p>
            <a:pPr algn="ctr">
              <a:spcBef>
                <a:spcPts val="0"/>
              </a:spcBef>
              <a:spcAft>
                <a:spcPts val="0"/>
              </a:spcAft>
              <a:defRPr sz="1000" b="0" i="0">
                <a:solidFill>
                  <a:srgbClr val="6B635B"/>
                </a:solidFill>
                <a:latin typeface="Montserrat"/>
              </a:defRPr>
            </a:pPr>
            <a:r>
              <a:t>[ Customer Photo ]</a:t>
            </a:r>
          </a:p>
        </p:txBody>
      </p:sp>
      <p:sp>
        <p:nvSpPr>
          <p:cNvPr id="19" name="TextBox 18"/>
          <p:cNvSpPr txBox="1"/>
          <p:nvPr/>
        </p:nvSpPr>
        <p:spPr>
          <a:xfrm>
            <a:off x="7132320" y="5943600"/>
            <a:ext cx="2834640" cy="274320"/>
          </a:xfrm>
          <a:prstGeom prst="rect">
            <a:avLst/>
          </a:prstGeom>
          <a:noFill/>
        </p:spPr>
        <p:txBody>
          <a:bodyPr wrap="square"/>
          <a:lstStyle/>
          <a:p>
            <a:pPr algn="ctr">
              <a:spcBef>
                <a:spcPts val="0"/>
              </a:spcBef>
              <a:spcAft>
                <a:spcPts val="0"/>
              </a:spcAft>
              <a:defRPr sz="900" b="0" i="0">
                <a:solidFill>
                  <a:srgbClr val="2D2D2D"/>
                </a:solidFill>
                <a:latin typeface="Montserrat"/>
              </a:defRPr>
            </a:pPr>
            <a:r>
              <a:t>Testimonial</a:t>
            </a:r>
          </a:p>
        </p:txBody>
      </p:sp>
      <p:sp>
        <p:nvSpPr>
          <p:cNvPr id="20" name="TextBox 19"/>
          <p:cNvSpPr txBox="1"/>
          <p:nvPr/>
        </p:nvSpPr>
        <p:spPr>
          <a:xfrm>
            <a:off x="10241280" y="914400"/>
            <a:ext cx="1645920" cy="274320"/>
          </a:xfrm>
          <a:prstGeom prst="rect">
            <a:avLst/>
          </a:prstGeom>
          <a:noFill/>
        </p:spPr>
        <p:txBody>
          <a:bodyPr wrap="square"/>
          <a:lstStyle/>
          <a:p>
            <a:pPr algn="l">
              <a:spcBef>
                <a:spcPts val="0"/>
              </a:spcBef>
              <a:spcAft>
                <a:spcPts val="0"/>
              </a:spcAft>
              <a:defRPr sz="1000" b="1" i="0">
                <a:solidFill>
                  <a:srgbClr val="C6922A"/>
                </a:solidFill>
                <a:latin typeface="Montserrat"/>
              </a:defRPr>
            </a:pPr>
            <a:r>
              <a:t>TIPS</a:t>
            </a:r>
          </a:p>
        </p:txBody>
      </p:sp>
      <p:sp>
        <p:nvSpPr>
          <p:cNvPr id="21" name="TextBox 20"/>
          <p:cNvSpPr txBox="1"/>
          <p:nvPr/>
        </p:nvSpPr>
        <p:spPr>
          <a:xfrm>
            <a:off x="10241280" y="1280160"/>
            <a:ext cx="1737360" cy="2743200"/>
          </a:xfrm>
          <a:prstGeom prst="rect">
            <a:avLst/>
          </a:prstGeom>
          <a:noFill/>
        </p:spPr>
        <p:txBody>
          <a:bodyPr wrap="square"/>
          <a:lstStyle/>
          <a:p>
            <a:pPr algn="l">
              <a:spcBef>
                <a:spcPts val="0"/>
              </a:spcBef>
              <a:spcAft>
                <a:spcPts val="0"/>
              </a:spcAft>
              <a:defRPr sz="900" b="0" i="0">
                <a:solidFill>
                  <a:srgbClr val="2D2D2D"/>
                </a:solidFill>
                <a:latin typeface="Garamond"/>
              </a:defRPr>
            </a:pPr>
            <a:r>
              <a:t>• Keep important content in the center (safe zone)</a:t>
            </a:r>
            <a:br/>
            <a:r>
              <a:t>• Use interactive elements: polls, questions, sliders</a:t>
            </a:r>
            <a:br/>
            <a:r>
              <a:t>• Consistent branding across all stories</a:t>
            </a:r>
            <a:br/>
            <a:r>
              <a:t>• Use motion for engagement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Move="1" noResize="1" noEditPoints="1" noAdjustHandles="1" noChangeArrowheads="1" noChangeShapeType="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t>
            </a:r>
            <a:endParaRPr dirty="0"/>
          </a:p>
        </p:txBody>
      </p:sp>
      <p:sp>
        <p:nvSpPr>
          <p:cNvPr id="3" name="TextBox 2"/>
          <p:cNvSpPr txBox="1"/>
          <p:nvPr/>
        </p:nvSpPr>
        <p:spPr>
          <a:xfrm>
            <a:off x="731520" y="138221"/>
            <a:ext cx="45720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rPr dirty="0"/>
              <a:t>Facebook Templates</a:t>
            </a:r>
          </a:p>
        </p:txBody>
      </p:sp>
      <p:sp>
        <p:nvSpPr>
          <p:cNvPr id="4" name="TextBox 3"/>
          <p:cNvSpPr txBox="1"/>
          <p:nvPr/>
        </p:nvSpPr>
        <p:spPr>
          <a:xfrm>
            <a:off x="731520" y="410406"/>
            <a:ext cx="4572000" cy="274320"/>
          </a:xfrm>
          <a:prstGeom prst="rect">
            <a:avLst/>
          </a:prstGeom>
          <a:noFill/>
        </p:spPr>
        <p:txBody>
          <a:bodyPr wrap="square"/>
          <a:lstStyle/>
          <a:p>
            <a:pPr algn="l">
              <a:spcBef>
                <a:spcPts val="0"/>
              </a:spcBef>
              <a:spcAft>
                <a:spcPts val="0"/>
              </a:spcAft>
              <a:defRPr sz="1000" b="0" i="0">
                <a:solidFill>
                  <a:srgbClr val="F5F0C2"/>
                </a:solidFill>
                <a:latin typeface="Montserrat"/>
              </a:defRPr>
            </a:pPr>
            <a:r>
              <a:rPr dirty="0"/>
              <a:t>Facebook Post — 1200 × 630 </a:t>
            </a:r>
            <a:r>
              <a:rPr dirty="0" err="1"/>
              <a:t>px</a:t>
            </a:r>
            <a:endParaRPr dirty="0"/>
          </a:p>
        </p:txBody>
      </p:sp>
      <p:sp>
        <p:nvSpPr>
          <p:cNvPr id="5" name="Rectangle 4"/>
          <p:cNvSpPr/>
          <p:nvPr/>
        </p:nvSpPr>
        <p:spPr>
          <a:xfrm>
            <a:off x="731520" y="754908"/>
            <a:ext cx="6400800" cy="3355848"/>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754908"/>
            <a:ext cx="2286000" cy="335584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943628"/>
            <a:ext cx="2286000" cy="457200"/>
          </a:xfrm>
          <a:prstGeom prst="rect">
            <a:avLst/>
          </a:prstGeom>
          <a:noFill/>
        </p:spPr>
        <p:txBody>
          <a:bodyPr wrap="square"/>
          <a:lstStyle/>
          <a:p>
            <a:pPr algn="ctr">
              <a:spcBef>
                <a:spcPts val="0"/>
              </a:spcBef>
              <a:spcAft>
                <a:spcPts val="0"/>
              </a:spcAft>
              <a:defRPr sz="2400" b="0" i="0">
                <a:solidFill>
                  <a:srgbClr val="2D2D2D"/>
                </a:solidFill>
                <a:latin typeface="Didot"/>
              </a:defRPr>
            </a:pPr>
            <a:r>
              <a:rPr dirty="0">
                <a:latin typeface="Garamond" panose="02020404030301010803" pitchFamily="18" charset="0"/>
              </a:rPr>
              <a:t>ROSE</a:t>
            </a:r>
            <a:br>
              <a:rPr dirty="0">
                <a:latin typeface="Garamond" panose="02020404030301010803" pitchFamily="18" charset="0"/>
              </a:rPr>
            </a:br>
            <a:r>
              <a:rPr dirty="0">
                <a:latin typeface="Garamond" panose="02020404030301010803" pitchFamily="18" charset="0"/>
              </a:rPr>
              <a:t>BELLA</a:t>
            </a:r>
          </a:p>
        </p:txBody>
      </p:sp>
      <p:sp>
        <p:nvSpPr>
          <p:cNvPr id="8" name="TextBox 7"/>
          <p:cNvSpPr txBox="1"/>
          <p:nvPr/>
        </p:nvSpPr>
        <p:spPr>
          <a:xfrm>
            <a:off x="3474720" y="1669308"/>
            <a:ext cx="3200400" cy="457200"/>
          </a:xfrm>
          <a:prstGeom prst="rect">
            <a:avLst/>
          </a:prstGeom>
          <a:noFill/>
        </p:spPr>
        <p:txBody>
          <a:bodyPr wrap="square"/>
          <a:lstStyle/>
          <a:p>
            <a:pPr algn="ctr">
              <a:spcBef>
                <a:spcPts val="0"/>
              </a:spcBef>
              <a:spcAft>
                <a:spcPts val="0"/>
              </a:spcAft>
              <a:defRPr sz="1200" b="0" i="0">
                <a:solidFill>
                  <a:srgbClr val="6B635B"/>
                </a:solidFill>
                <a:latin typeface="Montserrat"/>
              </a:defRPr>
            </a:pPr>
            <a:r>
              <a:t>[ Featured Image ]</a:t>
            </a:r>
          </a:p>
        </p:txBody>
      </p:sp>
      <p:sp>
        <p:nvSpPr>
          <p:cNvPr id="9" name="TextBox 8"/>
          <p:cNvSpPr txBox="1"/>
          <p:nvPr/>
        </p:nvSpPr>
        <p:spPr>
          <a:xfrm>
            <a:off x="3474720" y="2583708"/>
            <a:ext cx="3200400" cy="731520"/>
          </a:xfrm>
          <a:prstGeom prst="rect">
            <a:avLst/>
          </a:prstGeom>
          <a:noFill/>
        </p:spPr>
        <p:txBody>
          <a:bodyPr wrap="square"/>
          <a:lstStyle/>
          <a:p>
            <a:pPr algn="ctr">
              <a:spcBef>
                <a:spcPts val="0"/>
              </a:spcBef>
              <a:spcAft>
                <a:spcPts val="0"/>
              </a:spcAft>
              <a:defRPr sz="1400" b="0" i="0">
                <a:solidFill>
                  <a:srgbClr val="2D2D2D"/>
                </a:solidFill>
                <a:latin typeface="Garamond"/>
              </a:defRPr>
            </a:pPr>
            <a:r>
              <a:t>Premium Flowers</a:t>
            </a:r>
            <a:br/>
            <a:r>
              <a:t>&amp; Chocolates</a:t>
            </a:r>
          </a:p>
        </p:txBody>
      </p:sp>
      <p:sp>
        <p:nvSpPr>
          <p:cNvPr id="10" name="TextBox 9"/>
          <p:cNvSpPr txBox="1"/>
          <p:nvPr/>
        </p:nvSpPr>
        <p:spPr>
          <a:xfrm>
            <a:off x="731520" y="4321068"/>
            <a:ext cx="4572000" cy="274320"/>
          </a:xfrm>
          <a:prstGeom prst="rect">
            <a:avLst/>
          </a:prstGeom>
          <a:noFill/>
        </p:spPr>
        <p:txBody>
          <a:bodyPr wrap="square"/>
          <a:lstStyle/>
          <a:p>
            <a:pPr algn="l">
              <a:spcBef>
                <a:spcPts val="0"/>
              </a:spcBef>
              <a:spcAft>
                <a:spcPts val="0"/>
              </a:spcAft>
              <a:defRPr sz="1000" b="0" i="0">
                <a:solidFill>
                  <a:srgbClr val="F5F0C2"/>
                </a:solidFill>
                <a:latin typeface="Montserrat"/>
              </a:defRPr>
            </a:pPr>
            <a:r>
              <a:t>Facebook Cover — 820 × 312 px</a:t>
            </a:r>
          </a:p>
        </p:txBody>
      </p:sp>
      <p:sp>
        <p:nvSpPr>
          <p:cNvPr id="11" name="Rectangle 10"/>
          <p:cNvSpPr/>
          <p:nvPr/>
        </p:nvSpPr>
        <p:spPr>
          <a:xfrm>
            <a:off x="731520" y="4686823"/>
            <a:ext cx="6400800" cy="2032955"/>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5301385"/>
            <a:ext cx="2743200" cy="548640"/>
          </a:xfrm>
          <a:prstGeom prst="rect">
            <a:avLst/>
          </a:prstGeom>
          <a:noFill/>
        </p:spPr>
        <p:txBody>
          <a:bodyPr wrap="square"/>
          <a:lstStyle/>
          <a:p>
            <a:pPr algn="ctr">
              <a:spcBef>
                <a:spcPts val="0"/>
              </a:spcBef>
              <a:spcAft>
                <a:spcPts val="0"/>
              </a:spcAft>
              <a:defRPr sz="2800" b="0" i="0">
                <a:solidFill>
                  <a:srgbClr val="2D2D2D"/>
                </a:solidFill>
                <a:latin typeface="Didot"/>
              </a:defRPr>
            </a:pPr>
            <a:r>
              <a:rPr dirty="0">
                <a:latin typeface="Garamond" panose="02020404030301010803" pitchFamily="18" charset="0"/>
              </a:rPr>
              <a:t>ROSEBELLA</a:t>
            </a:r>
          </a:p>
        </p:txBody>
      </p:sp>
      <p:sp>
        <p:nvSpPr>
          <p:cNvPr id="13" name="TextBox 12"/>
          <p:cNvSpPr txBox="1"/>
          <p:nvPr/>
        </p:nvSpPr>
        <p:spPr>
          <a:xfrm>
            <a:off x="3657600" y="5209945"/>
            <a:ext cx="3200400" cy="731520"/>
          </a:xfrm>
          <a:prstGeom prst="rect">
            <a:avLst/>
          </a:prstGeom>
          <a:noFill/>
        </p:spPr>
        <p:txBody>
          <a:bodyPr wrap="square"/>
          <a:lstStyle/>
          <a:p>
            <a:pPr algn="ctr">
              <a:spcBef>
                <a:spcPts val="0"/>
              </a:spcBef>
              <a:spcAft>
                <a:spcPts val="0"/>
              </a:spcAft>
              <a:defRPr sz="1200" b="0" i="0">
                <a:solidFill>
                  <a:srgbClr val="2D2D2D"/>
                </a:solidFill>
                <a:latin typeface="Garamond"/>
              </a:defRPr>
            </a:pPr>
            <a:r>
              <a:rPr dirty="0"/>
              <a:t>Luxury Flowers &amp; Chocolates</a:t>
            </a:r>
            <a:br>
              <a:rPr dirty="0"/>
            </a:br>
            <a:r>
              <a:rPr dirty="0"/>
              <a:t>Delivered with Love</a:t>
            </a:r>
          </a:p>
        </p:txBody>
      </p:sp>
      <p:sp>
        <p:nvSpPr>
          <p:cNvPr id="14" name="TextBox 13"/>
          <p:cNvSpPr txBox="1"/>
          <p:nvPr/>
        </p:nvSpPr>
        <p:spPr>
          <a:xfrm>
            <a:off x="7772400" y="888881"/>
            <a:ext cx="3657600" cy="365760"/>
          </a:xfrm>
          <a:prstGeom prst="rect">
            <a:avLst/>
          </a:prstGeom>
          <a:noFill/>
        </p:spPr>
        <p:txBody>
          <a:bodyPr wrap="square"/>
          <a:lstStyle/>
          <a:p>
            <a:pPr algn="l">
              <a:spcBef>
                <a:spcPts val="0"/>
              </a:spcBef>
              <a:spcAft>
                <a:spcPts val="0"/>
              </a:spcAft>
              <a:defRPr sz="1100" b="1" i="0">
                <a:solidFill>
                  <a:srgbClr val="C6922A"/>
                </a:solidFill>
                <a:latin typeface="Montserrat"/>
              </a:defRPr>
            </a:pPr>
            <a:r>
              <a:t>FACEBOOK GUIDELINES</a:t>
            </a:r>
          </a:p>
        </p:txBody>
      </p:sp>
      <p:sp>
        <p:nvSpPr>
          <p:cNvPr id="15" name="TextBox 14"/>
          <p:cNvSpPr txBox="1"/>
          <p:nvPr/>
        </p:nvSpPr>
        <p:spPr>
          <a:xfrm>
            <a:off x="7772400" y="1346081"/>
            <a:ext cx="3931920" cy="3200400"/>
          </a:xfrm>
          <a:prstGeom prst="rect">
            <a:avLst/>
          </a:prstGeom>
          <a:noFill/>
        </p:spPr>
        <p:txBody>
          <a:bodyPr wrap="square"/>
          <a:lstStyle/>
          <a:p>
            <a:pPr algn="l">
              <a:spcBef>
                <a:spcPts val="0"/>
              </a:spcBef>
              <a:spcAft>
                <a:spcPts val="0"/>
              </a:spcAft>
              <a:defRPr sz="1200" b="0" i="0">
                <a:solidFill>
                  <a:srgbClr val="F5F0C2"/>
                </a:solidFill>
                <a:latin typeface="Garamond"/>
              </a:defRPr>
            </a:pPr>
            <a:r>
              <a:t>Post Best Practices:</a:t>
            </a:r>
            <a:br/>
            <a:r>
              <a:t>• Keep text under 20% of image</a:t>
            </a:r>
            <a:br/>
            <a:r>
              <a:t>• Use clear, high-quality visuals</a:t>
            </a:r>
            <a:br/>
            <a:r>
              <a:t>• Include call-to-action when relevant</a:t>
            </a:r>
            <a:br/>
            <a:r>
              <a:t>• Maintain brand consistency</a:t>
            </a:r>
            <a:br/>
            <a:br/>
            <a:r>
              <a:t>Cover Photo Tips:</a:t>
            </a:r>
            <a:br/>
            <a:r>
              <a:t>• Keep important content centered</a:t>
            </a:r>
            <a:br/>
            <a:r>
              <a:t>• Account for profile picture overlay</a:t>
            </a:r>
            <a:br/>
            <a:r>
              <a:t>• Update seasonally for engagement</a:t>
            </a:r>
            <a:br/>
            <a:r>
              <a:t>• Avoid text-heavy designs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Move="1" noResize="1" noEditPoints="1" noAdjustHandles="1" noChangeArrowheads="1" noChangeShapeType="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85055"/>
            <a:ext cx="45720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rPr dirty="0"/>
              <a:t>Additional Platform Templates</a:t>
            </a:r>
          </a:p>
        </p:txBody>
      </p:sp>
      <p:sp>
        <p:nvSpPr>
          <p:cNvPr id="4" name="TextBox 3"/>
          <p:cNvSpPr txBox="1"/>
          <p:nvPr/>
        </p:nvSpPr>
        <p:spPr>
          <a:xfrm>
            <a:off x="731520" y="414659"/>
            <a:ext cx="45720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Twitter/X — 1200 × 675 px</a:t>
            </a:r>
          </a:p>
        </p:txBody>
      </p:sp>
      <p:sp>
        <p:nvSpPr>
          <p:cNvPr id="5" name="Rectangle 4"/>
          <p:cNvSpPr/>
          <p:nvPr/>
        </p:nvSpPr>
        <p:spPr>
          <a:xfrm>
            <a:off x="731520" y="684722"/>
            <a:ext cx="5029200" cy="28346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90562"/>
            <a:ext cx="5029200" cy="457200"/>
          </a:xfrm>
          <a:prstGeom prst="rect">
            <a:avLst/>
          </a:prstGeom>
          <a:noFill/>
        </p:spPr>
        <p:txBody>
          <a:bodyPr wrap="square"/>
          <a:lstStyle/>
          <a:p>
            <a:pPr algn="ctr">
              <a:spcBef>
                <a:spcPts val="0"/>
              </a:spcBef>
              <a:spcAft>
                <a:spcPts val="0"/>
              </a:spcAft>
              <a:defRPr sz="2000" b="0" i="0">
                <a:solidFill>
                  <a:srgbClr val="C6922A"/>
                </a:solidFill>
                <a:latin typeface="Didot"/>
              </a:defRPr>
            </a:pPr>
            <a:r>
              <a:rPr dirty="0">
                <a:latin typeface="Garamond" panose="02020404030301010803" pitchFamily="18" charset="0"/>
              </a:rPr>
              <a:t>ROSEBELLA</a:t>
            </a:r>
          </a:p>
        </p:txBody>
      </p:sp>
      <p:sp>
        <p:nvSpPr>
          <p:cNvPr id="7" name="TextBox 6"/>
          <p:cNvSpPr txBox="1"/>
          <p:nvPr/>
        </p:nvSpPr>
        <p:spPr>
          <a:xfrm>
            <a:off x="731520" y="2147762"/>
            <a:ext cx="5029200" cy="457200"/>
          </a:xfrm>
          <a:prstGeom prst="rect">
            <a:avLst/>
          </a:prstGeom>
          <a:noFill/>
        </p:spPr>
        <p:txBody>
          <a:bodyPr wrap="square"/>
          <a:lstStyle/>
          <a:p>
            <a:pPr algn="ctr">
              <a:spcBef>
                <a:spcPts val="0"/>
              </a:spcBef>
              <a:spcAft>
                <a:spcPts val="0"/>
              </a:spcAft>
              <a:defRPr sz="1400" b="0" i="1">
                <a:solidFill>
                  <a:srgbClr val="F5F0C2"/>
                </a:solidFill>
                <a:latin typeface="Garamond"/>
              </a:defRPr>
            </a:pPr>
            <a:r>
              <a:t>Elegance Delivered</a:t>
            </a:r>
          </a:p>
        </p:txBody>
      </p:sp>
      <p:sp>
        <p:nvSpPr>
          <p:cNvPr id="8" name="TextBox 7"/>
          <p:cNvSpPr txBox="1"/>
          <p:nvPr/>
        </p:nvSpPr>
        <p:spPr>
          <a:xfrm>
            <a:off x="6400800" y="414659"/>
            <a:ext cx="45720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LinkedIn — 1200 × 627 px</a:t>
            </a:r>
          </a:p>
        </p:txBody>
      </p:sp>
      <p:sp>
        <p:nvSpPr>
          <p:cNvPr id="9" name="Rectangle 8"/>
          <p:cNvSpPr/>
          <p:nvPr/>
        </p:nvSpPr>
        <p:spPr>
          <a:xfrm>
            <a:off x="6400800" y="780419"/>
            <a:ext cx="5029200" cy="262432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603379"/>
            <a:ext cx="2286000" cy="457200"/>
          </a:xfrm>
          <a:prstGeom prst="rect">
            <a:avLst/>
          </a:prstGeom>
          <a:noFill/>
        </p:spPr>
        <p:txBody>
          <a:bodyPr wrap="square"/>
          <a:lstStyle/>
          <a:p>
            <a:pPr algn="l">
              <a:spcBef>
                <a:spcPts val="0"/>
              </a:spcBef>
              <a:spcAft>
                <a:spcPts val="0"/>
              </a:spcAft>
              <a:defRPr sz="1800" b="0" i="0">
                <a:solidFill>
                  <a:srgbClr val="2D2D2D"/>
                </a:solidFill>
                <a:latin typeface="Didot"/>
              </a:defRPr>
            </a:pPr>
            <a:r>
              <a:rPr dirty="0">
                <a:latin typeface="Garamond" panose="02020404030301010803" pitchFamily="18" charset="0"/>
              </a:rPr>
              <a:t>ROSEBELLA</a:t>
            </a:r>
          </a:p>
        </p:txBody>
      </p:sp>
      <p:sp>
        <p:nvSpPr>
          <p:cNvPr id="11" name="TextBox 10"/>
          <p:cNvSpPr txBox="1"/>
          <p:nvPr/>
        </p:nvSpPr>
        <p:spPr>
          <a:xfrm>
            <a:off x="6675120" y="2060579"/>
            <a:ext cx="4114800" cy="457200"/>
          </a:xfrm>
          <a:prstGeom prst="rect">
            <a:avLst/>
          </a:prstGeom>
          <a:noFill/>
        </p:spPr>
        <p:txBody>
          <a:bodyPr wrap="square"/>
          <a:lstStyle/>
          <a:p>
            <a:pPr algn="l">
              <a:spcBef>
                <a:spcPts val="0"/>
              </a:spcBef>
              <a:spcAft>
                <a:spcPts val="0"/>
              </a:spcAft>
              <a:defRPr sz="1200" b="0" i="0">
                <a:solidFill>
                  <a:srgbClr val="2D2D2D"/>
                </a:solidFill>
                <a:latin typeface="Garamond"/>
              </a:defRPr>
            </a:pPr>
            <a:r>
              <a:t>Premium Gifting Solutions</a:t>
            </a:r>
          </a:p>
        </p:txBody>
      </p:sp>
      <p:sp>
        <p:nvSpPr>
          <p:cNvPr id="12" name="TextBox 11"/>
          <p:cNvSpPr txBox="1"/>
          <p:nvPr/>
        </p:nvSpPr>
        <p:spPr>
          <a:xfrm>
            <a:off x="731520" y="3606555"/>
            <a:ext cx="45720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Pinterest — 1000 × 1500 px</a:t>
            </a:r>
          </a:p>
        </p:txBody>
      </p:sp>
      <p:sp>
        <p:nvSpPr>
          <p:cNvPr id="13" name="Rectangle 12"/>
          <p:cNvSpPr/>
          <p:nvPr/>
        </p:nvSpPr>
        <p:spPr>
          <a:xfrm>
            <a:off x="731520" y="3887251"/>
            <a:ext cx="1828800" cy="2743200"/>
          </a:xfrm>
          <a:prstGeom prst="rect">
            <a:avLst/>
          </a:prstGeom>
          <a:solidFill>
            <a:srgbClr val="FAF8F0"/>
          </a:solidFill>
          <a:ln>
            <a:solidFill>
              <a:srgbClr val="C69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161571"/>
            <a:ext cx="1828800" cy="365760"/>
          </a:xfrm>
          <a:prstGeom prst="rect">
            <a:avLst/>
          </a:prstGeom>
          <a:noFill/>
        </p:spPr>
        <p:txBody>
          <a:bodyPr wrap="square"/>
          <a:lstStyle/>
          <a:p>
            <a:pPr algn="ctr">
              <a:spcBef>
                <a:spcPts val="0"/>
              </a:spcBef>
              <a:spcAft>
                <a:spcPts val="0"/>
              </a:spcAft>
              <a:defRPr sz="900" b="0" i="0">
                <a:solidFill>
                  <a:srgbClr val="6B635B"/>
                </a:solidFill>
                <a:latin typeface="Montserrat"/>
              </a:defRPr>
            </a:pPr>
            <a:r>
              <a:t>[ Image ]</a:t>
            </a:r>
          </a:p>
        </p:txBody>
      </p:sp>
      <p:sp>
        <p:nvSpPr>
          <p:cNvPr id="15" name="TextBox 14"/>
          <p:cNvSpPr txBox="1"/>
          <p:nvPr/>
        </p:nvSpPr>
        <p:spPr>
          <a:xfrm>
            <a:off x="731520" y="5624611"/>
            <a:ext cx="1828800" cy="365760"/>
          </a:xfrm>
          <a:prstGeom prst="rect">
            <a:avLst/>
          </a:prstGeom>
          <a:noFill/>
        </p:spPr>
        <p:txBody>
          <a:bodyPr wrap="square"/>
          <a:lstStyle/>
          <a:p>
            <a:pPr algn="ctr">
              <a:spcBef>
                <a:spcPts val="0"/>
              </a:spcBef>
              <a:spcAft>
                <a:spcPts val="0"/>
              </a:spcAft>
              <a:defRPr sz="1200" b="0" i="0">
                <a:solidFill>
                  <a:srgbClr val="C6922A"/>
                </a:solidFill>
                <a:latin typeface="Didot"/>
              </a:defRPr>
            </a:pPr>
            <a:r>
              <a:rPr dirty="0">
                <a:latin typeface="Garamond" panose="02020404030301010803" pitchFamily="18" charset="0"/>
              </a:rPr>
              <a:t>ROSEBELLA</a:t>
            </a:r>
          </a:p>
        </p:txBody>
      </p:sp>
      <p:sp>
        <p:nvSpPr>
          <p:cNvPr id="16" name="TextBox 15"/>
          <p:cNvSpPr txBox="1"/>
          <p:nvPr/>
        </p:nvSpPr>
        <p:spPr>
          <a:xfrm>
            <a:off x="731520" y="5990371"/>
            <a:ext cx="1828800" cy="365760"/>
          </a:xfrm>
          <a:prstGeom prst="rect">
            <a:avLst/>
          </a:prstGeom>
          <a:noFill/>
        </p:spPr>
        <p:txBody>
          <a:bodyPr wrap="square"/>
          <a:lstStyle/>
          <a:p>
            <a:pPr algn="ctr">
              <a:spcBef>
                <a:spcPts val="0"/>
              </a:spcBef>
              <a:spcAft>
                <a:spcPts val="0"/>
              </a:spcAft>
              <a:defRPr sz="800" b="0" i="0">
                <a:solidFill>
                  <a:srgbClr val="2D2D2D"/>
                </a:solidFill>
                <a:latin typeface="Montserrat"/>
              </a:defRPr>
            </a:pPr>
            <a:r>
              <a:t>Shop Now</a:t>
            </a:r>
          </a:p>
        </p:txBody>
      </p:sp>
      <p:sp>
        <p:nvSpPr>
          <p:cNvPr id="17" name="TextBox 16"/>
          <p:cNvSpPr txBox="1"/>
          <p:nvPr/>
        </p:nvSpPr>
        <p:spPr>
          <a:xfrm>
            <a:off x="3017520" y="3606555"/>
            <a:ext cx="45720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YouTube Thumbnail — 1280 × 720 px</a:t>
            </a:r>
          </a:p>
        </p:txBody>
      </p:sp>
      <p:sp>
        <p:nvSpPr>
          <p:cNvPr id="18" name="Rectangle 17"/>
          <p:cNvSpPr/>
          <p:nvPr/>
        </p:nvSpPr>
        <p:spPr>
          <a:xfrm>
            <a:off x="3017520" y="3887251"/>
            <a:ext cx="4114800" cy="2313432"/>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17520" y="4618771"/>
            <a:ext cx="4114800" cy="548640"/>
          </a:xfrm>
          <a:prstGeom prst="rect">
            <a:avLst/>
          </a:prstGeom>
          <a:noFill/>
        </p:spPr>
        <p:txBody>
          <a:bodyPr wrap="square"/>
          <a:lstStyle/>
          <a:p>
            <a:pPr algn="ctr">
              <a:spcBef>
                <a:spcPts val="0"/>
              </a:spcBef>
              <a:spcAft>
                <a:spcPts val="0"/>
              </a:spcAft>
              <a:defRPr sz="2200" b="0" i="0">
                <a:solidFill>
                  <a:srgbClr val="C6922A"/>
                </a:solidFill>
                <a:latin typeface="Didot"/>
              </a:defRPr>
            </a:pPr>
            <a:r>
              <a:rPr dirty="0">
                <a:latin typeface="Garamond" panose="02020404030301010803" pitchFamily="18" charset="0"/>
              </a:rPr>
              <a:t>ROSEBELLA</a:t>
            </a:r>
          </a:p>
        </p:txBody>
      </p:sp>
      <p:sp>
        <p:nvSpPr>
          <p:cNvPr id="20" name="TextBox 19"/>
          <p:cNvSpPr txBox="1"/>
          <p:nvPr/>
        </p:nvSpPr>
        <p:spPr>
          <a:xfrm>
            <a:off x="3017520" y="5167411"/>
            <a:ext cx="4114800" cy="365760"/>
          </a:xfrm>
          <a:prstGeom prst="rect">
            <a:avLst/>
          </a:prstGeom>
          <a:noFill/>
        </p:spPr>
        <p:txBody>
          <a:bodyPr wrap="square"/>
          <a:lstStyle/>
          <a:p>
            <a:pPr algn="ctr">
              <a:spcBef>
                <a:spcPts val="0"/>
              </a:spcBef>
              <a:spcAft>
                <a:spcPts val="0"/>
              </a:spcAft>
              <a:defRPr sz="1000" b="0" i="0">
                <a:solidFill>
                  <a:srgbClr val="F5F0C2"/>
                </a:solidFill>
                <a:latin typeface="Montserrat"/>
              </a:defRPr>
            </a:pPr>
            <a:r>
              <a:t>Unboxing Our Valentine's Collection</a:t>
            </a:r>
          </a:p>
        </p:txBody>
      </p:sp>
      <p:sp>
        <p:nvSpPr>
          <p:cNvPr id="21" name="TextBox 20"/>
          <p:cNvSpPr txBox="1"/>
          <p:nvPr/>
        </p:nvSpPr>
        <p:spPr>
          <a:xfrm>
            <a:off x="7589520" y="3606555"/>
            <a:ext cx="36576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rPr dirty="0"/>
              <a:t>WhatsApp Status — 1080 × 1920 </a:t>
            </a:r>
            <a:r>
              <a:rPr dirty="0" err="1"/>
              <a:t>px</a:t>
            </a:r>
            <a:endParaRPr dirty="0"/>
          </a:p>
        </p:txBody>
      </p:sp>
      <p:sp>
        <p:nvSpPr>
          <p:cNvPr id="22" name="Rectangle 21"/>
          <p:cNvSpPr/>
          <p:nvPr/>
        </p:nvSpPr>
        <p:spPr>
          <a:xfrm>
            <a:off x="8686800" y="3855352"/>
            <a:ext cx="1645920" cy="292608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0" y="4952632"/>
            <a:ext cx="1645920" cy="365760"/>
          </a:xfrm>
          <a:prstGeom prst="rect">
            <a:avLst/>
          </a:prstGeom>
          <a:noFill/>
        </p:spPr>
        <p:txBody>
          <a:bodyPr wrap="square"/>
          <a:lstStyle/>
          <a:p>
            <a:pPr algn="ctr">
              <a:spcBef>
                <a:spcPts val="0"/>
              </a:spcBef>
              <a:spcAft>
                <a:spcPts val="0"/>
              </a:spcAft>
              <a:defRPr sz="1000" b="0" i="0">
                <a:solidFill>
                  <a:srgbClr val="2D2D2D"/>
                </a:solidFill>
                <a:latin typeface="Didot"/>
              </a:defRPr>
            </a:pPr>
            <a:r>
              <a:rPr dirty="0">
                <a:latin typeface="Garamond" panose="02020404030301010803" pitchFamily="18" charset="0"/>
              </a:rPr>
              <a:t>ROSEBELLA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08</a:t>
            </a:r>
          </a:p>
        </p:txBody>
      </p:sp>
      <p:sp>
        <p:nvSpPr>
          <p:cNvPr id="4" name="TextBox 3"/>
          <p:cNvSpPr txBox="1"/>
          <p:nvPr/>
        </p:nvSpPr>
        <p:spPr>
          <a:xfrm>
            <a:off x="731520" y="914400"/>
            <a:ext cx="4572000" cy="731520"/>
          </a:xfrm>
          <a:prstGeom prst="rect">
            <a:avLst/>
          </a:prstGeom>
          <a:noFill/>
        </p:spPr>
        <p:txBody>
          <a:bodyPr wrap="square"/>
          <a:lstStyle/>
          <a:p>
            <a:pPr algn="l">
              <a:spcBef>
                <a:spcPts val="0"/>
              </a:spcBef>
              <a:spcAft>
                <a:spcPts val="0"/>
              </a:spcAft>
              <a:defRPr sz="4200" b="0" i="0">
                <a:solidFill>
                  <a:srgbClr val="FFFFFF"/>
                </a:solidFill>
                <a:latin typeface="Didot"/>
              </a:defRPr>
            </a:pPr>
            <a:r>
              <a:t>Brand Applications</a:t>
            </a:r>
          </a:p>
        </p:txBody>
      </p:sp>
      <p:sp>
        <p:nvSpPr>
          <p:cNvPr id="5" name="Rectangle 4"/>
          <p:cNvSpPr/>
          <p:nvPr/>
        </p:nvSpPr>
        <p:spPr>
          <a:xfrm>
            <a:off x="731520" y="1737360"/>
            <a:ext cx="2743200" cy="18288"/>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2103120"/>
            <a:ext cx="5029200" cy="128016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377439"/>
            <a:ext cx="2743200" cy="365760"/>
          </a:xfrm>
          <a:prstGeom prst="rect">
            <a:avLst/>
          </a:prstGeom>
          <a:noFill/>
        </p:spPr>
        <p:txBody>
          <a:bodyPr wrap="square"/>
          <a:lstStyle/>
          <a:p>
            <a:pPr algn="l">
              <a:spcBef>
                <a:spcPts val="0"/>
              </a:spcBef>
              <a:spcAft>
                <a:spcPts val="0"/>
              </a:spcAft>
              <a:defRPr sz="1800" b="0" i="0">
                <a:solidFill>
                  <a:srgbClr val="2D2D2D"/>
                </a:solidFill>
                <a:latin typeface="Didot"/>
              </a:defRPr>
            </a:pPr>
            <a:r>
              <a:t>Business Card</a:t>
            </a:r>
          </a:p>
        </p:txBody>
      </p:sp>
      <p:sp>
        <p:nvSpPr>
          <p:cNvPr id="8" name="TextBox 7"/>
          <p:cNvSpPr txBox="1"/>
          <p:nvPr/>
        </p:nvSpPr>
        <p:spPr>
          <a:xfrm>
            <a:off x="1005840" y="2834639"/>
            <a:ext cx="27432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3.5 × 2 inches</a:t>
            </a:r>
          </a:p>
        </p:txBody>
      </p:sp>
      <p:sp>
        <p:nvSpPr>
          <p:cNvPr id="9" name="Rectangle 8"/>
          <p:cNvSpPr/>
          <p:nvPr/>
        </p:nvSpPr>
        <p:spPr>
          <a:xfrm>
            <a:off x="4206240" y="2286000"/>
            <a:ext cx="1280160" cy="9144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0" y="2560320"/>
            <a:ext cx="1280160" cy="365760"/>
          </a:xfrm>
          <a:prstGeom prst="rect">
            <a:avLst/>
          </a:prstGeom>
          <a:noFill/>
        </p:spPr>
        <p:txBody>
          <a:bodyPr wrap="square"/>
          <a:lstStyle/>
          <a:p>
            <a:pPr algn="ctr">
              <a:spcBef>
                <a:spcPts val="0"/>
              </a:spcBef>
              <a:spcAft>
                <a:spcPts val="0"/>
              </a:spcAft>
              <a:defRPr sz="1400" b="0" i="0">
                <a:solidFill>
                  <a:srgbClr val="C6922A"/>
                </a:solidFill>
                <a:latin typeface="Montserrat"/>
              </a:defRPr>
            </a:pPr>
            <a:r>
              <a:t>[ ]</a:t>
            </a:r>
          </a:p>
        </p:txBody>
      </p:sp>
      <p:sp>
        <p:nvSpPr>
          <p:cNvPr id="11" name="Rectangle 10"/>
          <p:cNvSpPr/>
          <p:nvPr/>
        </p:nvSpPr>
        <p:spPr>
          <a:xfrm>
            <a:off x="731520" y="3566160"/>
            <a:ext cx="5029200" cy="128016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840480"/>
            <a:ext cx="2743200" cy="365760"/>
          </a:xfrm>
          <a:prstGeom prst="rect">
            <a:avLst/>
          </a:prstGeom>
          <a:noFill/>
        </p:spPr>
        <p:txBody>
          <a:bodyPr wrap="square"/>
          <a:lstStyle/>
          <a:p>
            <a:pPr algn="l">
              <a:spcBef>
                <a:spcPts val="0"/>
              </a:spcBef>
              <a:spcAft>
                <a:spcPts val="0"/>
              </a:spcAft>
              <a:defRPr sz="1800" b="0" i="0">
                <a:solidFill>
                  <a:srgbClr val="2D2D2D"/>
                </a:solidFill>
                <a:latin typeface="Didot"/>
              </a:defRPr>
            </a:pPr>
            <a:r>
              <a:t>Packaging Box</a:t>
            </a:r>
          </a:p>
        </p:txBody>
      </p:sp>
      <p:sp>
        <p:nvSpPr>
          <p:cNvPr id="13" name="TextBox 12"/>
          <p:cNvSpPr txBox="1"/>
          <p:nvPr/>
        </p:nvSpPr>
        <p:spPr>
          <a:xfrm>
            <a:off x="1005840" y="4297680"/>
            <a:ext cx="27432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Various sizes</a:t>
            </a:r>
          </a:p>
        </p:txBody>
      </p:sp>
      <p:sp>
        <p:nvSpPr>
          <p:cNvPr id="14" name="Rectangle 13"/>
          <p:cNvSpPr/>
          <p:nvPr/>
        </p:nvSpPr>
        <p:spPr>
          <a:xfrm>
            <a:off x="4206240" y="3749039"/>
            <a:ext cx="1280160" cy="9144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06240" y="4023360"/>
            <a:ext cx="1280160" cy="365760"/>
          </a:xfrm>
          <a:prstGeom prst="rect">
            <a:avLst/>
          </a:prstGeom>
          <a:noFill/>
        </p:spPr>
        <p:txBody>
          <a:bodyPr wrap="square"/>
          <a:lstStyle/>
          <a:p>
            <a:pPr algn="ctr">
              <a:spcBef>
                <a:spcPts val="0"/>
              </a:spcBef>
              <a:spcAft>
                <a:spcPts val="0"/>
              </a:spcAft>
              <a:defRPr sz="1400" b="0" i="0">
                <a:solidFill>
                  <a:srgbClr val="C6922A"/>
                </a:solidFill>
                <a:latin typeface="Montserrat"/>
              </a:defRPr>
            </a:pPr>
            <a:r>
              <a:t>[ ]</a:t>
            </a:r>
          </a:p>
        </p:txBody>
      </p:sp>
      <p:sp>
        <p:nvSpPr>
          <p:cNvPr id="16" name="Rectangle 15"/>
          <p:cNvSpPr/>
          <p:nvPr/>
        </p:nvSpPr>
        <p:spPr>
          <a:xfrm>
            <a:off x="731520" y="5029200"/>
            <a:ext cx="5029200" cy="128016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5303520"/>
            <a:ext cx="2743200" cy="365760"/>
          </a:xfrm>
          <a:prstGeom prst="rect">
            <a:avLst/>
          </a:prstGeom>
          <a:noFill/>
        </p:spPr>
        <p:txBody>
          <a:bodyPr wrap="square"/>
          <a:lstStyle/>
          <a:p>
            <a:pPr algn="l">
              <a:spcBef>
                <a:spcPts val="0"/>
              </a:spcBef>
              <a:spcAft>
                <a:spcPts val="0"/>
              </a:spcAft>
              <a:defRPr sz="1800" b="0" i="0">
                <a:solidFill>
                  <a:srgbClr val="2D2D2D"/>
                </a:solidFill>
                <a:latin typeface="Didot"/>
              </a:defRPr>
            </a:pPr>
            <a:r>
              <a:t>Gift Tags</a:t>
            </a:r>
          </a:p>
        </p:txBody>
      </p:sp>
      <p:sp>
        <p:nvSpPr>
          <p:cNvPr id="18" name="TextBox 17"/>
          <p:cNvSpPr txBox="1"/>
          <p:nvPr/>
        </p:nvSpPr>
        <p:spPr>
          <a:xfrm>
            <a:off x="1005840" y="5760720"/>
            <a:ext cx="27432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2 × 3.5 inches</a:t>
            </a:r>
          </a:p>
        </p:txBody>
      </p:sp>
      <p:sp>
        <p:nvSpPr>
          <p:cNvPr id="19" name="Rectangle 18"/>
          <p:cNvSpPr/>
          <p:nvPr/>
        </p:nvSpPr>
        <p:spPr>
          <a:xfrm>
            <a:off x="4206240" y="5212080"/>
            <a:ext cx="1280160" cy="9144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06240" y="5486400"/>
            <a:ext cx="1280160" cy="365760"/>
          </a:xfrm>
          <a:prstGeom prst="rect">
            <a:avLst/>
          </a:prstGeom>
          <a:noFill/>
        </p:spPr>
        <p:txBody>
          <a:bodyPr wrap="square"/>
          <a:lstStyle/>
          <a:p>
            <a:pPr algn="ctr">
              <a:spcBef>
                <a:spcPts val="0"/>
              </a:spcBef>
              <a:spcAft>
                <a:spcPts val="0"/>
              </a:spcAft>
              <a:defRPr sz="1400" b="0" i="0">
                <a:solidFill>
                  <a:srgbClr val="C6922A"/>
                </a:solidFill>
                <a:latin typeface="Montserrat"/>
              </a:defRPr>
            </a:pPr>
            <a:r>
              <a:t>[ ]</a:t>
            </a:r>
          </a:p>
        </p:txBody>
      </p:sp>
      <p:sp>
        <p:nvSpPr>
          <p:cNvPr id="21" name="Rectangle 20"/>
          <p:cNvSpPr/>
          <p:nvPr/>
        </p:nvSpPr>
        <p:spPr>
          <a:xfrm>
            <a:off x="6217920" y="2103120"/>
            <a:ext cx="5029200" cy="128016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2377439"/>
            <a:ext cx="2743200" cy="365760"/>
          </a:xfrm>
          <a:prstGeom prst="rect">
            <a:avLst/>
          </a:prstGeom>
          <a:noFill/>
        </p:spPr>
        <p:txBody>
          <a:bodyPr wrap="square"/>
          <a:lstStyle/>
          <a:p>
            <a:pPr algn="l">
              <a:spcBef>
                <a:spcPts val="0"/>
              </a:spcBef>
              <a:spcAft>
                <a:spcPts val="0"/>
              </a:spcAft>
              <a:defRPr sz="1800" b="0" i="0">
                <a:solidFill>
                  <a:srgbClr val="2D2D2D"/>
                </a:solidFill>
                <a:latin typeface="Didot"/>
              </a:defRPr>
            </a:pPr>
            <a:r>
              <a:t>Ribbon &amp; Wrap</a:t>
            </a:r>
          </a:p>
        </p:txBody>
      </p:sp>
      <p:sp>
        <p:nvSpPr>
          <p:cNvPr id="23" name="TextBox 22"/>
          <p:cNvSpPr txBox="1"/>
          <p:nvPr/>
        </p:nvSpPr>
        <p:spPr>
          <a:xfrm>
            <a:off x="6492240" y="2834639"/>
            <a:ext cx="27432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Gold satin ribbon</a:t>
            </a:r>
          </a:p>
        </p:txBody>
      </p:sp>
      <p:sp>
        <p:nvSpPr>
          <p:cNvPr id="24" name="Rectangle 23"/>
          <p:cNvSpPr/>
          <p:nvPr/>
        </p:nvSpPr>
        <p:spPr>
          <a:xfrm>
            <a:off x="9692640" y="2286000"/>
            <a:ext cx="1280160" cy="9144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92640" y="2560320"/>
            <a:ext cx="1280160" cy="365760"/>
          </a:xfrm>
          <a:prstGeom prst="rect">
            <a:avLst/>
          </a:prstGeom>
          <a:noFill/>
        </p:spPr>
        <p:txBody>
          <a:bodyPr wrap="square"/>
          <a:lstStyle/>
          <a:p>
            <a:pPr algn="ctr">
              <a:spcBef>
                <a:spcPts val="0"/>
              </a:spcBef>
              <a:spcAft>
                <a:spcPts val="0"/>
              </a:spcAft>
              <a:defRPr sz="1400" b="0" i="0">
                <a:solidFill>
                  <a:srgbClr val="C6922A"/>
                </a:solidFill>
                <a:latin typeface="Montserrat"/>
              </a:defRPr>
            </a:pPr>
            <a:r>
              <a:t>[ ]</a:t>
            </a:r>
          </a:p>
        </p:txBody>
      </p:sp>
      <p:sp>
        <p:nvSpPr>
          <p:cNvPr id="26" name="Rectangle 25"/>
          <p:cNvSpPr/>
          <p:nvPr/>
        </p:nvSpPr>
        <p:spPr>
          <a:xfrm>
            <a:off x="6217920" y="3566160"/>
            <a:ext cx="5029200" cy="128016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92240" y="3840480"/>
            <a:ext cx="2743200" cy="365760"/>
          </a:xfrm>
          <a:prstGeom prst="rect">
            <a:avLst/>
          </a:prstGeom>
          <a:noFill/>
        </p:spPr>
        <p:txBody>
          <a:bodyPr wrap="square"/>
          <a:lstStyle/>
          <a:p>
            <a:pPr algn="l">
              <a:spcBef>
                <a:spcPts val="0"/>
              </a:spcBef>
              <a:spcAft>
                <a:spcPts val="0"/>
              </a:spcAft>
              <a:defRPr sz="1800" b="0" i="0">
                <a:solidFill>
                  <a:srgbClr val="2D2D2D"/>
                </a:solidFill>
                <a:latin typeface="Didot"/>
              </a:defRPr>
            </a:pPr>
            <a:r>
              <a:t>Thank You Card</a:t>
            </a:r>
          </a:p>
        </p:txBody>
      </p:sp>
      <p:sp>
        <p:nvSpPr>
          <p:cNvPr id="28" name="TextBox 27"/>
          <p:cNvSpPr txBox="1"/>
          <p:nvPr/>
        </p:nvSpPr>
        <p:spPr>
          <a:xfrm>
            <a:off x="6492240" y="4297680"/>
            <a:ext cx="27432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4 × 6 inches</a:t>
            </a:r>
          </a:p>
        </p:txBody>
      </p:sp>
      <p:sp>
        <p:nvSpPr>
          <p:cNvPr id="29" name="Rectangle 28"/>
          <p:cNvSpPr/>
          <p:nvPr/>
        </p:nvSpPr>
        <p:spPr>
          <a:xfrm>
            <a:off x="9692640" y="3749039"/>
            <a:ext cx="1280160" cy="9144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92640" y="4023360"/>
            <a:ext cx="1280160" cy="365760"/>
          </a:xfrm>
          <a:prstGeom prst="rect">
            <a:avLst/>
          </a:prstGeom>
          <a:noFill/>
        </p:spPr>
        <p:txBody>
          <a:bodyPr wrap="square"/>
          <a:lstStyle/>
          <a:p>
            <a:pPr algn="ctr">
              <a:spcBef>
                <a:spcPts val="0"/>
              </a:spcBef>
              <a:spcAft>
                <a:spcPts val="0"/>
              </a:spcAft>
              <a:defRPr sz="1400" b="0" i="0">
                <a:solidFill>
                  <a:srgbClr val="C6922A"/>
                </a:solidFill>
                <a:latin typeface="Montserrat"/>
              </a:defRPr>
            </a:pPr>
            <a:r>
              <a:t>[ ]</a:t>
            </a:r>
          </a:p>
        </p:txBody>
      </p:sp>
      <p:sp>
        <p:nvSpPr>
          <p:cNvPr id="31" name="Rectangle 30"/>
          <p:cNvSpPr/>
          <p:nvPr/>
        </p:nvSpPr>
        <p:spPr>
          <a:xfrm>
            <a:off x="6217920" y="5029200"/>
            <a:ext cx="5029200" cy="1280160"/>
          </a:xfrm>
          <a:prstGeom prst="rect">
            <a:avLst/>
          </a:prstGeom>
          <a:solidFill>
            <a:srgbClr val="C6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0" y="5303520"/>
            <a:ext cx="2743200" cy="365760"/>
          </a:xfrm>
          <a:prstGeom prst="rect">
            <a:avLst/>
          </a:prstGeom>
          <a:noFill/>
        </p:spPr>
        <p:txBody>
          <a:bodyPr wrap="square"/>
          <a:lstStyle/>
          <a:p>
            <a:pPr algn="l">
              <a:spcBef>
                <a:spcPts val="0"/>
              </a:spcBef>
              <a:spcAft>
                <a:spcPts val="0"/>
              </a:spcAft>
              <a:defRPr sz="1800" b="0" i="0">
                <a:solidFill>
                  <a:srgbClr val="2D2D2D"/>
                </a:solidFill>
                <a:latin typeface="Didot"/>
              </a:defRPr>
            </a:pPr>
            <a:r>
              <a:t>Delivery Bag</a:t>
            </a:r>
          </a:p>
        </p:txBody>
      </p:sp>
      <p:sp>
        <p:nvSpPr>
          <p:cNvPr id="33" name="TextBox 32"/>
          <p:cNvSpPr txBox="1"/>
          <p:nvPr/>
        </p:nvSpPr>
        <p:spPr>
          <a:xfrm>
            <a:off x="6492240" y="5760720"/>
            <a:ext cx="27432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Premium kraft with logo</a:t>
            </a:r>
          </a:p>
        </p:txBody>
      </p:sp>
      <p:sp>
        <p:nvSpPr>
          <p:cNvPr id="34" name="Rectangle 33"/>
          <p:cNvSpPr/>
          <p:nvPr/>
        </p:nvSpPr>
        <p:spPr>
          <a:xfrm>
            <a:off x="9692640" y="5212080"/>
            <a:ext cx="1280160" cy="9144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92640" y="5486400"/>
            <a:ext cx="1280160" cy="365760"/>
          </a:xfrm>
          <a:prstGeom prst="rect">
            <a:avLst/>
          </a:prstGeom>
          <a:noFill/>
        </p:spPr>
        <p:txBody>
          <a:bodyPr wrap="square"/>
          <a:lstStyle/>
          <a:p>
            <a:pPr algn="ctr">
              <a:spcBef>
                <a:spcPts val="0"/>
              </a:spcBef>
              <a:spcAft>
                <a:spcPts val="0"/>
              </a:spcAft>
              <a:defRPr sz="1400" b="0" i="0">
                <a:solidFill>
                  <a:srgbClr val="C6922A"/>
                </a:solidFill>
                <a:latin typeface="Montserrat"/>
              </a:defRPr>
            </a:pPr>
            <a: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45720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Business Card Design</a:t>
            </a:r>
          </a:p>
        </p:txBody>
      </p:sp>
      <p:sp>
        <p:nvSpPr>
          <p:cNvPr id="4" name="TextBox 3"/>
          <p:cNvSpPr txBox="1"/>
          <p:nvPr/>
        </p:nvSpPr>
        <p:spPr>
          <a:xfrm>
            <a:off x="731520" y="1005840"/>
            <a:ext cx="27432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Front</a:t>
            </a:r>
          </a:p>
        </p:txBody>
      </p:sp>
      <p:sp>
        <p:nvSpPr>
          <p:cNvPr id="5" name="Rectangle 4"/>
          <p:cNvSpPr/>
          <p:nvPr/>
        </p:nvSpPr>
        <p:spPr>
          <a:xfrm>
            <a:off x="731520" y="1371600"/>
            <a:ext cx="4572000" cy="2615184"/>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286000"/>
            <a:ext cx="4572000" cy="548640"/>
          </a:xfrm>
          <a:prstGeom prst="rect">
            <a:avLst/>
          </a:prstGeom>
          <a:noFill/>
        </p:spPr>
        <p:txBody>
          <a:bodyPr wrap="square"/>
          <a:lstStyle/>
          <a:p>
            <a:pPr algn="ctr">
              <a:spcBef>
                <a:spcPts val="0"/>
              </a:spcBef>
              <a:spcAft>
                <a:spcPts val="0"/>
              </a:spcAft>
              <a:defRPr sz="2800" b="0" i="0">
                <a:solidFill>
                  <a:srgbClr val="C6922A"/>
                </a:solidFill>
                <a:latin typeface="Didot"/>
              </a:defRPr>
            </a:pPr>
            <a:r>
              <a:rPr dirty="0">
                <a:latin typeface="Garamond" panose="02020404030301010803" pitchFamily="18" charset="0"/>
              </a:rPr>
              <a:t>ROSEBELLA</a:t>
            </a:r>
          </a:p>
        </p:txBody>
      </p:sp>
      <p:sp>
        <p:nvSpPr>
          <p:cNvPr id="7" name="TextBox 6"/>
          <p:cNvSpPr txBox="1"/>
          <p:nvPr/>
        </p:nvSpPr>
        <p:spPr>
          <a:xfrm>
            <a:off x="731520" y="2834640"/>
            <a:ext cx="4572000" cy="365760"/>
          </a:xfrm>
          <a:prstGeom prst="rect">
            <a:avLst/>
          </a:prstGeom>
          <a:noFill/>
        </p:spPr>
        <p:txBody>
          <a:bodyPr wrap="square"/>
          <a:lstStyle/>
          <a:p>
            <a:pPr algn="ctr">
              <a:spcBef>
                <a:spcPts val="0"/>
              </a:spcBef>
              <a:spcAft>
                <a:spcPts val="0"/>
              </a:spcAft>
              <a:defRPr sz="1200" b="0" i="1">
                <a:solidFill>
                  <a:srgbClr val="F5F0C2"/>
                </a:solidFill>
                <a:latin typeface="Garamond"/>
              </a:defRPr>
            </a:pPr>
            <a:r>
              <a:rPr dirty="0"/>
              <a:t>Luxury Flowers &amp; Chocolates</a:t>
            </a:r>
          </a:p>
        </p:txBody>
      </p:sp>
      <p:sp>
        <p:nvSpPr>
          <p:cNvPr id="8" name="TextBox 7"/>
          <p:cNvSpPr txBox="1"/>
          <p:nvPr/>
        </p:nvSpPr>
        <p:spPr>
          <a:xfrm>
            <a:off x="6217920" y="1005840"/>
            <a:ext cx="2743200" cy="274320"/>
          </a:xfrm>
          <a:prstGeom prst="rect">
            <a:avLst/>
          </a:prstGeom>
          <a:noFill/>
        </p:spPr>
        <p:txBody>
          <a:bodyPr wrap="square"/>
          <a:lstStyle/>
          <a:p>
            <a:pPr algn="l">
              <a:spcBef>
                <a:spcPts val="0"/>
              </a:spcBef>
              <a:spcAft>
                <a:spcPts val="0"/>
              </a:spcAft>
              <a:defRPr sz="1000" b="0" i="0">
                <a:solidFill>
                  <a:srgbClr val="2D2D2D"/>
                </a:solidFill>
                <a:latin typeface="Montserrat"/>
              </a:defRPr>
            </a:pPr>
            <a:r>
              <a:t>Back</a:t>
            </a:r>
          </a:p>
        </p:txBody>
      </p:sp>
      <p:sp>
        <p:nvSpPr>
          <p:cNvPr id="9" name="Rectangle 8"/>
          <p:cNvSpPr/>
          <p:nvPr/>
        </p:nvSpPr>
        <p:spPr>
          <a:xfrm>
            <a:off x="6217920" y="1371600"/>
            <a:ext cx="4572000" cy="2615184"/>
          </a:xfrm>
          <a:prstGeom prst="rect">
            <a:avLst/>
          </a:prstGeom>
          <a:solidFill>
            <a:srgbClr val="FAF8F0"/>
          </a:solidFill>
          <a:ln>
            <a:solidFill>
              <a:srgbClr val="C69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645920"/>
            <a:ext cx="3657600" cy="365760"/>
          </a:xfrm>
          <a:prstGeom prst="rect">
            <a:avLst/>
          </a:prstGeom>
          <a:noFill/>
        </p:spPr>
        <p:txBody>
          <a:bodyPr wrap="square"/>
          <a:lstStyle/>
          <a:p>
            <a:pPr algn="l">
              <a:spcBef>
                <a:spcPts val="0"/>
              </a:spcBef>
              <a:spcAft>
                <a:spcPts val="0"/>
              </a:spcAft>
              <a:defRPr sz="1600" b="0" i="0">
                <a:solidFill>
                  <a:srgbClr val="2D2D2D"/>
                </a:solidFill>
                <a:latin typeface="Didot"/>
              </a:defRPr>
            </a:pPr>
            <a:r>
              <a:rPr lang="en-US" dirty="0"/>
              <a:t>Yousef ElGailey</a:t>
            </a:r>
            <a:endParaRPr dirty="0"/>
          </a:p>
        </p:txBody>
      </p:sp>
      <p:sp>
        <p:nvSpPr>
          <p:cNvPr id="11" name="TextBox 10"/>
          <p:cNvSpPr txBox="1"/>
          <p:nvPr/>
        </p:nvSpPr>
        <p:spPr>
          <a:xfrm>
            <a:off x="6675120" y="2011680"/>
            <a:ext cx="3657600" cy="274320"/>
          </a:xfrm>
          <a:prstGeom prst="rect">
            <a:avLst/>
          </a:prstGeom>
          <a:noFill/>
        </p:spPr>
        <p:txBody>
          <a:bodyPr wrap="square"/>
          <a:lstStyle/>
          <a:p>
            <a:pPr algn="l">
              <a:spcBef>
                <a:spcPts val="0"/>
              </a:spcBef>
              <a:spcAft>
                <a:spcPts val="0"/>
              </a:spcAft>
              <a:defRPr sz="900" b="0" i="0">
                <a:solidFill>
                  <a:srgbClr val="C6922A"/>
                </a:solidFill>
                <a:latin typeface="Montserrat"/>
              </a:defRPr>
            </a:pPr>
            <a:r>
              <a:rPr lang="en-US" dirty="0"/>
              <a:t>Marketing Manager</a:t>
            </a:r>
            <a:endParaRPr dirty="0"/>
          </a:p>
        </p:txBody>
      </p:sp>
      <p:sp>
        <p:nvSpPr>
          <p:cNvPr id="12" name="TextBox 11"/>
          <p:cNvSpPr txBox="1"/>
          <p:nvPr/>
        </p:nvSpPr>
        <p:spPr>
          <a:xfrm>
            <a:off x="6675120" y="2468880"/>
            <a:ext cx="3657600" cy="1188720"/>
          </a:xfrm>
          <a:prstGeom prst="rect">
            <a:avLst/>
          </a:prstGeom>
          <a:noFill/>
        </p:spPr>
        <p:txBody>
          <a:bodyPr wrap="square"/>
          <a:lstStyle/>
          <a:p>
            <a:pPr algn="l">
              <a:spcBef>
                <a:spcPts val="0"/>
              </a:spcBef>
              <a:spcAft>
                <a:spcPts val="0"/>
              </a:spcAft>
              <a:defRPr sz="1000" b="0" i="0">
                <a:solidFill>
                  <a:srgbClr val="2D2D2D"/>
                </a:solidFill>
                <a:latin typeface="Garamond"/>
              </a:defRPr>
            </a:pPr>
            <a:r>
              <a:rPr dirty="0"/>
              <a:t>+97</a:t>
            </a:r>
            <a:r>
              <a:rPr lang="en-US" dirty="0"/>
              <a:t>4</a:t>
            </a:r>
            <a:r>
              <a:rPr dirty="0"/>
              <a:t> 5</a:t>
            </a:r>
            <a:r>
              <a:rPr lang="en-US" dirty="0"/>
              <a:t>5</a:t>
            </a:r>
            <a:r>
              <a:rPr dirty="0"/>
              <a:t> </a:t>
            </a:r>
            <a:r>
              <a:rPr lang="en-US" dirty="0"/>
              <a:t>954</a:t>
            </a:r>
            <a:r>
              <a:rPr dirty="0"/>
              <a:t> </a:t>
            </a:r>
            <a:r>
              <a:rPr lang="en-US" dirty="0"/>
              <a:t>896</a:t>
            </a:r>
            <a:br>
              <a:rPr dirty="0"/>
            </a:br>
            <a:r>
              <a:rPr lang="en-US" dirty="0"/>
              <a:t>Yousef</a:t>
            </a:r>
            <a:r>
              <a:rPr dirty="0"/>
              <a:t>@rosebella.</a:t>
            </a:r>
            <a:r>
              <a:rPr lang="en-US" dirty="0"/>
              <a:t>co</a:t>
            </a:r>
            <a:br>
              <a:rPr dirty="0"/>
            </a:br>
            <a:r>
              <a:rPr dirty="0"/>
              <a:t>www.rosebella.ae</a:t>
            </a:r>
            <a:br>
              <a:rPr dirty="0"/>
            </a:br>
            <a:r>
              <a:rPr dirty="0"/>
              <a:t>@rosebella.flowers</a:t>
            </a:r>
          </a:p>
        </p:txBody>
      </p:sp>
      <p:sp>
        <p:nvSpPr>
          <p:cNvPr id="13" name="TextBox 12"/>
          <p:cNvSpPr txBox="1"/>
          <p:nvPr/>
        </p:nvSpPr>
        <p:spPr>
          <a:xfrm>
            <a:off x="731520" y="4297680"/>
            <a:ext cx="10515600" cy="365760"/>
          </a:xfrm>
          <a:prstGeom prst="rect">
            <a:avLst/>
          </a:prstGeom>
          <a:noFill/>
        </p:spPr>
        <p:txBody>
          <a:bodyPr wrap="square"/>
          <a:lstStyle/>
          <a:p>
            <a:pPr algn="l">
              <a:spcBef>
                <a:spcPts val="0"/>
              </a:spcBef>
              <a:spcAft>
                <a:spcPts val="0"/>
              </a:spcAft>
              <a:defRPr sz="1100" b="1" i="0">
                <a:solidFill>
                  <a:srgbClr val="C6922A"/>
                </a:solidFill>
                <a:latin typeface="Montserrat"/>
              </a:defRPr>
            </a:pPr>
            <a:r>
              <a:t>SPECIFICATIONS</a:t>
            </a:r>
          </a:p>
        </p:txBody>
      </p:sp>
      <p:sp>
        <p:nvSpPr>
          <p:cNvPr id="14" name="TextBox 13"/>
          <p:cNvSpPr txBox="1"/>
          <p:nvPr/>
        </p:nvSpPr>
        <p:spPr>
          <a:xfrm>
            <a:off x="731520" y="4663440"/>
            <a:ext cx="10515600" cy="457200"/>
          </a:xfrm>
          <a:prstGeom prst="rect">
            <a:avLst/>
          </a:prstGeom>
          <a:noFill/>
        </p:spPr>
        <p:txBody>
          <a:bodyPr wrap="square"/>
          <a:lstStyle/>
          <a:p>
            <a:pPr algn="l">
              <a:spcBef>
                <a:spcPts val="0"/>
              </a:spcBef>
              <a:spcAft>
                <a:spcPts val="0"/>
              </a:spcAft>
              <a:defRPr sz="1100" b="0" i="0">
                <a:solidFill>
                  <a:srgbClr val="2D2D2D"/>
                </a:solidFill>
                <a:latin typeface="Garamond"/>
              </a:defRPr>
            </a:pPr>
            <a:r>
              <a:t>Size: 3.5 × 2 inches (89 × 51 mm)  |  Paper: 400gsm uncoated or soft-touch matte  |  Finish: Gold foil stamping on logo  |  Print: Double-sided, full bleed</a:t>
            </a:r>
          </a:p>
        </p:txBody>
      </p:sp>
      <p:sp>
        <p:nvSpPr>
          <p:cNvPr id="15" name="TextBox 14"/>
          <p:cNvSpPr txBox="1"/>
          <p:nvPr/>
        </p:nvSpPr>
        <p:spPr>
          <a:xfrm>
            <a:off x="731520" y="5303520"/>
            <a:ext cx="10515600" cy="365760"/>
          </a:xfrm>
          <a:prstGeom prst="rect">
            <a:avLst/>
          </a:prstGeom>
          <a:noFill/>
        </p:spPr>
        <p:txBody>
          <a:bodyPr wrap="square"/>
          <a:lstStyle/>
          <a:p>
            <a:pPr algn="l">
              <a:spcBef>
                <a:spcPts val="0"/>
              </a:spcBef>
              <a:spcAft>
                <a:spcPts val="0"/>
              </a:spcAft>
              <a:defRPr sz="1100" b="1" i="0">
                <a:solidFill>
                  <a:srgbClr val="C6922A"/>
                </a:solidFill>
                <a:latin typeface="Montserrat"/>
              </a:defRPr>
            </a:pPr>
            <a:r>
              <a:t>PACKAGING GUIDELINES</a:t>
            </a:r>
          </a:p>
        </p:txBody>
      </p:sp>
      <p:sp>
        <p:nvSpPr>
          <p:cNvPr id="16" name="TextBox 15"/>
          <p:cNvSpPr txBox="1"/>
          <p:nvPr/>
        </p:nvSpPr>
        <p:spPr>
          <a:xfrm>
            <a:off x="731520" y="5669280"/>
            <a:ext cx="10515600" cy="914400"/>
          </a:xfrm>
          <a:prstGeom prst="rect">
            <a:avLst/>
          </a:prstGeom>
          <a:noFill/>
        </p:spPr>
        <p:txBody>
          <a:bodyPr wrap="square"/>
          <a:lstStyle/>
          <a:p>
            <a:pPr algn="l">
              <a:spcBef>
                <a:spcPts val="0"/>
              </a:spcBef>
              <a:spcAft>
                <a:spcPts val="0"/>
              </a:spcAft>
              <a:defRPr sz="1100" b="0" i="0">
                <a:solidFill>
                  <a:srgbClr val="2D2D2D"/>
                </a:solidFill>
                <a:latin typeface="Garamond"/>
              </a:defRPr>
            </a:pPr>
            <a:r>
              <a:t>All packaging should feature:</a:t>
            </a:r>
            <a:br/>
            <a:r>
              <a:t>• Premium materials (kraft paper, satin ribbon, tissue paper)  • Gold foil or embossed logo  • Consistent color palette  • Elegant presentation that enhances the unboxing experience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 cy="457200"/>
          </a:xfrm>
          <a:prstGeom prst="rect">
            <a:avLst/>
          </a:prstGeom>
          <a:noFill/>
        </p:spPr>
        <p:txBody>
          <a:bodyPr wrap="square"/>
          <a:lstStyle/>
          <a:p>
            <a:pPr algn="l">
              <a:spcBef>
                <a:spcPts val="0"/>
              </a:spcBef>
              <a:spcAft>
                <a:spcPts val="0"/>
              </a:spcAft>
              <a:defRPr sz="1400" b="0" i="0">
                <a:solidFill>
                  <a:srgbClr val="C6922A"/>
                </a:solidFill>
                <a:latin typeface="Montserrat"/>
              </a:defRPr>
            </a:pPr>
            <a:r>
              <a:t>09</a:t>
            </a:r>
          </a:p>
        </p:txBody>
      </p:sp>
      <p:sp>
        <p:nvSpPr>
          <p:cNvPr id="4" name="TextBox 3"/>
          <p:cNvSpPr txBox="1"/>
          <p:nvPr/>
        </p:nvSpPr>
        <p:spPr>
          <a:xfrm>
            <a:off x="731520" y="914400"/>
            <a:ext cx="4572000" cy="731520"/>
          </a:xfrm>
          <a:prstGeom prst="rect">
            <a:avLst/>
          </a:prstGeom>
          <a:noFill/>
        </p:spPr>
        <p:txBody>
          <a:bodyPr wrap="square"/>
          <a:lstStyle/>
          <a:p>
            <a:pPr algn="l">
              <a:spcBef>
                <a:spcPts val="0"/>
              </a:spcBef>
              <a:spcAft>
                <a:spcPts val="0"/>
              </a:spcAft>
              <a:defRPr sz="4200" b="0" i="0">
                <a:solidFill>
                  <a:srgbClr val="FFFFFF"/>
                </a:solidFill>
                <a:latin typeface="Didot"/>
              </a:defRPr>
            </a:pPr>
            <a:r>
              <a:t>Do's and Don'ts</a:t>
            </a:r>
          </a:p>
        </p:txBody>
      </p:sp>
      <p:sp>
        <p:nvSpPr>
          <p:cNvPr id="5" name="Rectangle 4"/>
          <p:cNvSpPr/>
          <p:nvPr/>
        </p:nvSpPr>
        <p:spPr>
          <a:xfrm>
            <a:off x="731520" y="1737360"/>
            <a:ext cx="2743200" cy="18288"/>
          </a:xfrm>
          <a:prstGeom prst="rect">
            <a:avLst/>
          </a:prstGeom>
          <a:solidFill>
            <a:srgbClr val="C6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286000"/>
            <a:ext cx="4572000" cy="457200"/>
          </a:xfrm>
          <a:prstGeom prst="rect">
            <a:avLst/>
          </a:prstGeom>
          <a:noFill/>
        </p:spPr>
        <p:txBody>
          <a:bodyPr wrap="square"/>
          <a:lstStyle/>
          <a:p>
            <a:pPr algn="l">
              <a:spcBef>
                <a:spcPts val="0"/>
              </a:spcBef>
              <a:spcAft>
                <a:spcPts val="0"/>
              </a:spcAft>
              <a:defRPr sz="1800" b="1" i="0">
                <a:solidFill>
                  <a:srgbClr val="2D2D2D"/>
                </a:solidFill>
                <a:latin typeface="Montserrat"/>
              </a:defRPr>
            </a:pPr>
            <a:r>
              <a:rPr dirty="0">
                <a:solidFill>
                  <a:schemeClr val="bg1"/>
                </a:solidFill>
              </a:rPr>
              <a:t>DO</a:t>
            </a:r>
          </a:p>
        </p:txBody>
      </p:sp>
      <p:sp>
        <p:nvSpPr>
          <p:cNvPr id="8" name="TextBox 7"/>
          <p:cNvSpPr txBox="1"/>
          <p:nvPr/>
        </p:nvSpPr>
        <p:spPr>
          <a:xfrm>
            <a:off x="1005840" y="2743200"/>
            <a:ext cx="4480560" cy="3474720"/>
          </a:xfrm>
          <a:prstGeom prst="rect">
            <a:avLst/>
          </a:prstGeom>
          <a:noFill/>
        </p:spPr>
        <p:txBody>
          <a:bodyPr wrap="square"/>
          <a:lstStyle/>
          <a:p>
            <a:pPr algn="l">
              <a:spcBef>
                <a:spcPts val="0"/>
              </a:spcBef>
              <a:spcAft>
                <a:spcPts val="0"/>
              </a:spcAft>
              <a:defRPr sz="1300" b="0" i="0">
                <a:solidFill>
                  <a:srgbClr val="2D2D2D"/>
                </a:solidFill>
                <a:latin typeface="Garamond"/>
              </a:defRPr>
            </a:pPr>
            <a:r>
              <a:rPr dirty="0">
                <a:solidFill>
                  <a:schemeClr val="bg1"/>
                </a:solidFill>
              </a:rPr>
              <a:t>✓ Use approved brand colors consistently</a:t>
            </a:r>
            <a:br>
              <a:rPr dirty="0">
                <a:solidFill>
                  <a:schemeClr val="bg1"/>
                </a:solidFill>
              </a:rPr>
            </a:br>
            <a:br>
              <a:rPr dirty="0">
                <a:solidFill>
                  <a:schemeClr val="bg1"/>
                </a:solidFill>
              </a:rPr>
            </a:br>
            <a:r>
              <a:rPr dirty="0">
                <a:solidFill>
                  <a:schemeClr val="bg1"/>
                </a:solidFill>
              </a:rPr>
              <a:t>✓ Maintain clear space around the logo</a:t>
            </a:r>
            <a:br>
              <a:rPr dirty="0">
                <a:solidFill>
                  <a:schemeClr val="bg1"/>
                </a:solidFill>
              </a:rPr>
            </a:br>
            <a:br>
              <a:rPr dirty="0">
                <a:solidFill>
                  <a:schemeClr val="bg1"/>
                </a:solidFill>
              </a:rPr>
            </a:br>
            <a:r>
              <a:rPr dirty="0">
                <a:solidFill>
                  <a:schemeClr val="bg1"/>
                </a:solidFill>
              </a:rPr>
              <a:t>✓ Use high-quality imagery</a:t>
            </a:r>
            <a:br>
              <a:rPr dirty="0">
                <a:solidFill>
                  <a:schemeClr val="bg1"/>
                </a:solidFill>
              </a:rPr>
            </a:br>
            <a:br>
              <a:rPr dirty="0">
                <a:solidFill>
                  <a:schemeClr val="bg1"/>
                </a:solidFill>
              </a:rPr>
            </a:br>
            <a:r>
              <a:rPr dirty="0">
                <a:solidFill>
                  <a:schemeClr val="bg1"/>
                </a:solidFill>
              </a:rPr>
              <a:t>✓ Follow typography hierarchy</a:t>
            </a:r>
            <a:br>
              <a:rPr dirty="0">
                <a:solidFill>
                  <a:schemeClr val="bg1"/>
                </a:solidFill>
              </a:rPr>
            </a:br>
            <a:br>
              <a:rPr dirty="0">
                <a:solidFill>
                  <a:schemeClr val="bg1"/>
                </a:solidFill>
              </a:rPr>
            </a:br>
            <a:r>
              <a:rPr dirty="0">
                <a:solidFill>
                  <a:schemeClr val="bg1"/>
                </a:solidFill>
              </a:rPr>
              <a:t>✓ Keep messaging elegant and warm</a:t>
            </a:r>
            <a:br>
              <a:rPr dirty="0">
                <a:solidFill>
                  <a:schemeClr val="bg1"/>
                </a:solidFill>
              </a:rPr>
            </a:br>
            <a:br>
              <a:rPr dirty="0">
                <a:solidFill>
                  <a:schemeClr val="bg1"/>
                </a:solidFill>
              </a:rPr>
            </a:br>
            <a:r>
              <a:rPr dirty="0">
                <a:solidFill>
                  <a:schemeClr val="bg1"/>
                </a:solidFill>
              </a:rPr>
              <a:t>✓ Ensure adequate contrast for readability</a:t>
            </a:r>
            <a:br>
              <a:rPr dirty="0">
                <a:solidFill>
                  <a:schemeClr val="bg1"/>
                </a:solidFill>
              </a:rPr>
            </a:br>
            <a:br>
              <a:rPr dirty="0">
                <a:solidFill>
                  <a:schemeClr val="bg1"/>
                </a:solidFill>
              </a:rPr>
            </a:br>
            <a:r>
              <a:rPr dirty="0">
                <a:solidFill>
                  <a:schemeClr val="bg1"/>
                </a:solidFill>
              </a:rPr>
              <a:t>✓ Apply brand elements consistently across all touchpoints</a:t>
            </a:r>
          </a:p>
        </p:txBody>
      </p:sp>
      <p:sp>
        <p:nvSpPr>
          <p:cNvPr id="10" name="TextBox 9"/>
          <p:cNvSpPr txBox="1"/>
          <p:nvPr/>
        </p:nvSpPr>
        <p:spPr>
          <a:xfrm>
            <a:off x="6492240" y="2286000"/>
            <a:ext cx="4572000" cy="457200"/>
          </a:xfrm>
          <a:prstGeom prst="rect">
            <a:avLst/>
          </a:prstGeom>
          <a:noFill/>
        </p:spPr>
        <p:txBody>
          <a:bodyPr wrap="square"/>
          <a:lstStyle/>
          <a:p>
            <a:pPr algn="l">
              <a:spcBef>
                <a:spcPts val="0"/>
              </a:spcBef>
              <a:spcAft>
                <a:spcPts val="0"/>
              </a:spcAft>
              <a:defRPr sz="1800" b="1" i="0">
                <a:solidFill>
                  <a:srgbClr val="994444"/>
                </a:solidFill>
                <a:latin typeface="Montserrat"/>
              </a:defRPr>
            </a:pPr>
            <a:r>
              <a:rPr>
                <a:solidFill>
                  <a:schemeClr val="bg1"/>
                </a:solidFill>
              </a:rPr>
              <a:t>DON'T</a:t>
            </a:r>
          </a:p>
        </p:txBody>
      </p:sp>
      <p:sp>
        <p:nvSpPr>
          <p:cNvPr id="11" name="TextBox 10"/>
          <p:cNvSpPr txBox="1"/>
          <p:nvPr/>
        </p:nvSpPr>
        <p:spPr>
          <a:xfrm>
            <a:off x="6492240" y="2743200"/>
            <a:ext cx="4480560" cy="3474720"/>
          </a:xfrm>
          <a:prstGeom prst="rect">
            <a:avLst/>
          </a:prstGeom>
          <a:noFill/>
        </p:spPr>
        <p:txBody>
          <a:bodyPr wrap="square"/>
          <a:lstStyle/>
          <a:p>
            <a:pPr algn="l">
              <a:spcBef>
                <a:spcPts val="0"/>
              </a:spcBef>
              <a:spcAft>
                <a:spcPts val="0"/>
              </a:spcAft>
              <a:defRPr sz="1300" b="0" i="0">
                <a:solidFill>
                  <a:srgbClr val="2D2D2D"/>
                </a:solidFill>
                <a:latin typeface="Garamond"/>
              </a:defRPr>
            </a:pPr>
            <a:r>
              <a:rPr dirty="0">
                <a:solidFill>
                  <a:schemeClr val="bg1"/>
                </a:solidFill>
              </a:rPr>
              <a:t>✗ Distort or stretch the logo</a:t>
            </a:r>
            <a:br>
              <a:rPr dirty="0">
                <a:solidFill>
                  <a:schemeClr val="bg1"/>
                </a:solidFill>
              </a:rPr>
            </a:br>
            <a:br>
              <a:rPr dirty="0">
                <a:solidFill>
                  <a:schemeClr val="bg1"/>
                </a:solidFill>
              </a:rPr>
            </a:br>
            <a:r>
              <a:rPr dirty="0">
                <a:solidFill>
                  <a:schemeClr val="bg1"/>
                </a:solidFill>
              </a:rPr>
              <a:t>✗ Use unapproved colors</a:t>
            </a:r>
            <a:br>
              <a:rPr dirty="0">
                <a:solidFill>
                  <a:schemeClr val="bg1"/>
                </a:solidFill>
              </a:rPr>
            </a:br>
            <a:br>
              <a:rPr dirty="0">
                <a:solidFill>
                  <a:schemeClr val="bg1"/>
                </a:solidFill>
              </a:rPr>
            </a:br>
            <a:r>
              <a:rPr dirty="0">
                <a:solidFill>
                  <a:schemeClr val="bg1"/>
                </a:solidFill>
              </a:rPr>
              <a:t>✗ Place logo on busy backgrounds</a:t>
            </a:r>
            <a:br>
              <a:rPr dirty="0">
                <a:solidFill>
                  <a:schemeClr val="bg1"/>
                </a:solidFill>
              </a:rPr>
            </a:br>
            <a:br>
              <a:rPr dirty="0">
                <a:solidFill>
                  <a:schemeClr val="bg1"/>
                </a:solidFill>
              </a:rPr>
            </a:br>
            <a:r>
              <a:rPr dirty="0">
                <a:solidFill>
                  <a:schemeClr val="bg1"/>
                </a:solidFill>
              </a:rPr>
              <a:t>✗ Use low-resolution images</a:t>
            </a:r>
            <a:br>
              <a:rPr dirty="0">
                <a:solidFill>
                  <a:schemeClr val="bg1"/>
                </a:solidFill>
              </a:rPr>
            </a:br>
            <a:br>
              <a:rPr dirty="0">
                <a:solidFill>
                  <a:schemeClr val="bg1"/>
                </a:solidFill>
              </a:rPr>
            </a:br>
            <a:r>
              <a:rPr dirty="0">
                <a:solidFill>
                  <a:schemeClr val="bg1"/>
                </a:solidFill>
              </a:rPr>
              <a:t>✗ Mix brand fonts with others</a:t>
            </a:r>
            <a:br>
              <a:rPr dirty="0">
                <a:solidFill>
                  <a:schemeClr val="bg1"/>
                </a:solidFill>
              </a:rPr>
            </a:br>
            <a:br>
              <a:rPr dirty="0">
                <a:solidFill>
                  <a:schemeClr val="bg1"/>
                </a:solidFill>
              </a:rPr>
            </a:br>
            <a:r>
              <a:rPr dirty="0">
                <a:solidFill>
                  <a:schemeClr val="bg1"/>
                </a:solidFill>
              </a:rPr>
              <a:t>✗ Use aggressive or salesy language</a:t>
            </a:r>
            <a:br>
              <a:rPr dirty="0">
                <a:solidFill>
                  <a:schemeClr val="bg1"/>
                </a:solidFill>
              </a:rPr>
            </a:br>
            <a:br>
              <a:rPr dirty="0">
                <a:solidFill>
                  <a:schemeClr val="bg1"/>
                </a:solidFill>
              </a:rPr>
            </a:br>
            <a:r>
              <a:rPr dirty="0">
                <a:solidFill>
                  <a:schemeClr val="bg1"/>
                </a:solidFill>
              </a:rPr>
              <a:t>✗ Overcrowd designs with too many elements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0"/>
            <a:ext cx="10972800" cy="914400"/>
          </a:xfrm>
          <a:prstGeom prst="rect">
            <a:avLst/>
          </a:prstGeom>
          <a:noFill/>
        </p:spPr>
        <p:txBody>
          <a:bodyPr wrap="square"/>
          <a:lstStyle/>
          <a:p>
            <a:pPr algn="ctr">
              <a:spcBef>
                <a:spcPts val="0"/>
              </a:spcBef>
              <a:spcAft>
                <a:spcPts val="0"/>
              </a:spcAft>
              <a:defRPr sz="7200" b="0" i="0">
                <a:solidFill>
                  <a:srgbClr val="C6922A"/>
                </a:solidFill>
                <a:latin typeface="Didot"/>
              </a:defRPr>
            </a:pPr>
            <a:r>
              <a:rPr dirty="0"/>
              <a:t>ROSEBELLA</a:t>
            </a:r>
          </a:p>
        </p:txBody>
      </p:sp>
      <p:sp>
        <p:nvSpPr>
          <p:cNvPr id="5" name="TextBox 4"/>
          <p:cNvSpPr txBox="1"/>
          <p:nvPr/>
        </p:nvSpPr>
        <p:spPr>
          <a:xfrm>
            <a:off x="457200" y="3274831"/>
            <a:ext cx="10972800" cy="457200"/>
          </a:xfrm>
          <a:prstGeom prst="rect">
            <a:avLst/>
          </a:prstGeom>
          <a:noFill/>
        </p:spPr>
        <p:txBody>
          <a:bodyPr wrap="square"/>
          <a:lstStyle/>
          <a:p>
            <a:pPr algn="ctr">
              <a:spcBef>
                <a:spcPts val="0"/>
              </a:spcBef>
              <a:spcAft>
                <a:spcPts val="0"/>
              </a:spcAft>
              <a:defRPr sz="2000" b="0" i="1">
                <a:solidFill>
                  <a:srgbClr val="F5F0C2"/>
                </a:solidFill>
                <a:latin typeface="Garamond"/>
              </a:defRPr>
            </a:pPr>
            <a:r>
              <a:rPr dirty="0"/>
              <a:t>Elegance Delivered</a:t>
            </a:r>
          </a:p>
        </p:txBody>
      </p:sp>
      <p:sp>
        <p:nvSpPr>
          <p:cNvPr id="6" name="TextBox 5"/>
          <p:cNvSpPr txBox="1"/>
          <p:nvPr/>
        </p:nvSpPr>
        <p:spPr>
          <a:xfrm>
            <a:off x="457200" y="4572000"/>
            <a:ext cx="10972800" cy="365760"/>
          </a:xfrm>
          <a:prstGeom prst="rect">
            <a:avLst/>
          </a:prstGeom>
          <a:noFill/>
        </p:spPr>
        <p:txBody>
          <a:bodyPr wrap="square"/>
          <a:lstStyle/>
          <a:p>
            <a:pPr algn="ctr">
              <a:spcBef>
                <a:spcPts val="0"/>
              </a:spcBef>
              <a:spcAft>
                <a:spcPts val="0"/>
              </a:spcAft>
              <a:defRPr sz="1200" b="0" i="0">
                <a:solidFill>
                  <a:srgbClr val="6B635B"/>
                </a:solidFill>
                <a:latin typeface="Montserrat"/>
              </a:defRPr>
            </a:pPr>
            <a:r>
              <a:rPr dirty="0"/>
              <a:t>www.rosebella.</a:t>
            </a:r>
            <a:r>
              <a:rPr lang="en-US" dirty="0"/>
              <a:t>co</a:t>
            </a:r>
            <a:r>
              <a:rPr dirty="0"/>
              <a:t>  |  @rosebella.flowers  |  </a:t>
            </a:r>
            <a:r>
              <a:rPr lang="en-US" dirty="0"/>
              <a:t>Yousef</a:t>
            </a:r>
            <a:r>
              <a:rPr dirty="0"/>
              <a:t>@rosebella.</a:t>
            </a:r>
            <a:r>
              <a:rPr lang="en-US" dirty="0"/>
              <a:t>co</a:t>
            </a:r>
            <a:endParaRPr dirty="0"/>
          </a:p>
        </p:txBody>
      </p:sp>
      <p:sp>
        <p:nvSpPr>
          <p:cNvPr id="7" name="TextBox 6"/>
          <p:cNvSpPr txBox="1"/>
          <p:nvPr/>
        </p:nvSpPr>
        <p:spPr>
          <a:xfrm>
            <a:off x="457200" y="5943600"/>
            <a:ext cx="10972800" cy="365760"/>
          </a:xfrm>
          <a:prstGeom prst="rect">
            <a:avLst/>
          </a:prstGeom>
          <a:noFill/>
        </p:spPr>
        <p:txBody>
          <a:bodyPr wrap="square"/>
          <a:lstStyle/>
          <a:p>
            <a:pPr algn="ctr">
              <a:spcBef>
                <a:spcPts val="0"/>
              </a:spcBef>
              <a:spcAft>
                <a:spcPts val="0"/>
              </a:spcAft>
              <a:defRPr sz="1000" b="0" i="0">
                <a:solidFill>
                  <a:srgbClr val="6B635B"/>
                </a:solidFill>
                <a:latin typeface="Montserrat"/>
              </a:defRPr>
            </a:pPr>
            <a:r>
              <a:rPr lang="en-US" dirty="0"/>
              <a:t>Rosebella co </a:t>
            </a:r>
            <a:r>
              <a:rPr dirty="0"/>
              <a:t>202</a:t>
            </a:r>
            <a:r>
              <a:rPr lang="en-US" dirty="0"/>
              <a:t>6</a:t>
            </a:r>
            <a:r>
              <a:rPr dirty="0"/>
              <a:t> —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304</TotalTime>
  <Words>1544</Words>
  <Application>Microsoft Office PowerPoint</Application>
  <PresentationFormat>Custom</PresentationFormat>
  <Paragraphs>274</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Garamond</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Yousef ElGailey</cp:lastModifiedBy>
  <cp:revision>6</cp:revision>
  <dcterms:created xsi:type="dcterms:W3CDTF">2013-01-27T09:14:16Z</dcterms:created>
  <dcterms:modified xsi:type="dcterms:W3CDTF">2026-02-20T17:42:24Z</dcterms:modified>
  <cp:category/>
</cp:coreProperties>
</file>